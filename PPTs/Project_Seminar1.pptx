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1" r:id="rId1"/>
    <p:sldMasterId id="2147483673" r:id="rId2"/>
  </p:sldMasterIdLst>
  <p:notesMasterIdLst>
    <p:notesMasterId r:id="rId27"/>
  </p:notesMasterIdLst>
  <p:sldIdLst>
    <p:sldId id="256" r:id="rId3"/>
    <p:sldId id="299" r:id="rId4"/>
    <p:sldId id="307" r:id="rId5"/>
    <p:sldId id="317" r:id="rId6"/>
    <p:sldId id="265" r:id="rId7"/>
    <p:sldId id="308" r:id="rId8"/>
    <p:sldId id="309" r:id="rId9"/>
    <p:sldId id="310" r:id="rId10"/>
    <p:sldId id="311" r:id="rId11"/>
    <p:sldId id="312" r:id="rId12"/>
    <p:sldId id="313" r:id="rId13"/>
    <p:sldId id="314" r:id="rId14"/>
    <p:sldId id="319" r:id="rId15"/>
    <p:sldId id="257" r:id="rId16"/>
    <p:sldId id="318" r:id="rId17"/>
    <p:sldId id="315" r:id="rId18"/>
    <p:sldId id="316" r:id="rId19"/>
    <p:sldId id="320" r:id="rId20"/>
    <p:sldId id="305" r:id="rId21"/>
    <p:sldId id="322" r:id="rId22"/>
    <p:sldId id="324" r:id="rId23"/>
    <p:sldId id="323" r:id="rId24"/>
    <p:sldId id="325" r:id="rId25"/>
    <p:sldId id="321" r:id="rId26"/>
  </p:sldIdLst>
  <p:sldSz cx="18288000" cy="10287000"/>
  <p:notesSz cx="6858000" cy="9144000"/>
  <p:embeddedFontLst>
    <p:embeddedFont>
      <p:font typeface="Times New Roman Bold" panose="02020803070505020304" pitchFamily="18" charset="0"/>
      <p:bold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7B11667-7A1E-4A53-87C4-0CB884DD265C}">
          <p14:sldIdLst>
            <p14:sldId id="256"/>
            <p14:sldId id="299"/>
            <p14:sldId id="307"/>
            <p14:sldId id="317"/>
            <p14:sldId id="265"/>
            <p14:sldId id="308"/>
            <p14:sldId id="309"/>
            <p14:sldId id="310"/>
            <p14:sldId id="311"/>
            <p14:sldId id="312"/>
            <p14:sldId id="313"/>
          </p14:sldIdLst>
        </p14:section>
        <p14:section name="Untitled Section" id="{3DDC3689-6083-40B0-989A-9F206DC9FE01}">
          <p14:sldIdLst>
            <p14:sldId id="314"/>
            <p14:sldId id="319"/>
            <p14:sldId id="257"/>
            <p14:sldId id="318"/>
            <p14:sldId id="315"/>
            <p14:sldId id="316"/>
            <p14:sldId id="320"/>
            <p14:sldId id="305"/>
            <p14:sldId id="322"/>
            <p14:sldId id="324"/>
            <p14:sldId id="323"/>
            <p14:sldId id="325"/>
            <p14:sldId id="32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5ECE"/>
    <a:srgbClr val="FEE2F7"/>
    <a:srgbClr val="FEC4EF"/>
    <a:srgbClr val="A86FD3"/>
    <a:srgbClr val="060606"/>
    <a:srgbClr val="BC8FDD"/>
    <a:srgbClr val="873AC0"/>
    <a:srgbClr val="FECEF1"/>
    <a:srgbClr val="FEDEF6"/>
    <a:srgbClr val="F4E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388" autoAdjust="0"/>
  </p:normalViewPr>
  <p:slideViewPr>
    <p:cSldViewPr>
      <p:cViewPr varScale="1">
        <p:scale>
          <a:sx n="40" d="100"/>
          <a:sy n="40" d="100"/>
        </p:scale>
        <p:origin x="538" y="5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0CC447-F45B-4B1C-94E3-D65BCBA3E054}" type="datetimeFigureOut">
              <a:rPr lang="en-US" smtClean="0"/>
              <a:t>8/19/2026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7C763A-FC3E-4DEA-BECB-76AA2345C78E}" type="slidenum">
              <a:rPr lang="en-US" smtClean="0"/>
              <a:t>‹#›</a:t>
            </a:fld>
            <a:endParaRPr lang="en-US" dirty="0"/>
          </a:p>
        </p:txBody>
      </p:sp>
    </p:spTree>
    <p:extLst>
      <p:ext uri="{BB962C8B-B14F-4D97-AF65-F5344CB8AC3E}">
        <p14:creationId xmlns:p14="http://schemas.microsoft.com/office/powerpoint/2010/main" val="3011693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13798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1A19C-5B1C-CD72-7A6B-83195AAC5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1067F-E9CB-1D98-528C-71C985ACB00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328DF24-89FB-D651-2F42-0B6DBD8FB2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B64204-4751-C25B-61E8-3A2A3F1C3E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9802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4541D-4E11-C5FD-0C45-77163B59C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D0B28-1DDB-FAD7-5BF3-5913F723F66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38C36B3-E5E4-07C6-E893-D307AF3F01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F6F929-02B0-3BA5-74B2-B4C9A6251E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532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57CE6-8B1F-AF97-AE0E-1196CA777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1F21C-CD58-F121-9CD7-7694CAFCC4F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F8BC8A1-DBE0-81FE-8F22-66F034D7C0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210ED4-763D-50C4-1F63-E9B5F94216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3702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78E1-7E7E-9824-C975-CE64A98E89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84012-B67C-8AD3-C6DA-C37459C707A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6FF7D1C-0436-4A4C-1C58-1C40EA0FE9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1AD846-641F-3E6C-8AEF-2D965D6999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2178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84D6-B49D-9390-32F1-0F2863D5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F625E-1BF7-9126-9CD4-B77AFCA0611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34C907D-791B-0A54-6E8D-FD8F8CB76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0437A1-6AD2-B565-20F7-842FD7B9BE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2439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1041E-36DB-B86D-590C-4ED490A2C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AD31CE-2F2B-6D9D-E110-05F4760E1AF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0636E03-DD9B-2A7F-8FF3-86E9402FAF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A7573A-D3C0-A5F0-A576-D1820EE3E3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5372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F1D1D-CCA9-F8CC-230E-970DDB5E5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DBF965-CA94-9E66-C3CF-1787BB0317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FB4AD77-72F1-3E8D-833D-5AC8BF9B1F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4FC7FE-3229-81F4-7D86-4BCA0771F6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C763A-FC3E-4DEA-BECB-76AA2345C7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5174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645920" y="1138428"/>
            <a:ext cx="15087600" cy="5349240"/>
          </a:xfrm>
        </p:spPr>
        <p:txBody>
          <a:bodyPr anchor="b">
            <a:normAutofit/>
          </a:bodyPr>
          <a:lstStyle>
            <a:lvl1pPr algn="l">
              <a:lnSpc>
                <a:spcPct val="85000"/>
              </a:lnSpc>
              <a:defRPr sz="12000" spc="-75"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650077" y="6683430"/>
            <a:ext cx="15087600" cy="1714500"/>
          </a:xfrm>
        </p:spPr>
        <p:txBody>
          <a:bodyPr lIns="91440" rIns="91440">
            <a:normAutofit/>
          </a:bodyPr>
          <a:lstStyle>
            <a:lvl1pPr marL="0" indent="0" algn="l">
              <a:buNone/>
              <a:defRPr sz="3600" cap="all" spc="300" baseline="0">
                <a:solidFill>
                  <a:schemeClr val="tx2"/>
                </a:solidFill>
                <a:latin typeface="+mj-lt"/>
              </a:defRPr>
            </a:lvl1pPr>
            <a:lvl2pPr marL="685800" indent="0" algn="ctr">
              <a:buNone/>
              <a:defRPr sz="3600"/>
            </a:lvl2pPr>
            <a:lvl3pPr marL="1371600" indent="0" algn="ctr">
              <a:buNone/>
              <a:defRPr sz="3600"/>
            </a:lvl3pPr>
            <a:lvl4pPr marL="2057400" indent="0" algn="ctr">
              <a:buNone/>
              <a:defRPr sz="3000"/>
            </a:lvl4pPr>
            <a:lvl5pPr marL="2743200" indent="0" algn="ctr">
              <a:buNone/>
              <a:defRPr sz="3000"/>
            </a:lvl5pPr>
            <a:lvl6pPr marL="3429000" indent="0" algn="ctr">
              <a:buNone/>
              <a:defRPr sz="3000"/>
            </a:lvl6pPr>
            <a:lvl7pPr marL="4114800" indent="0" algn="ctr">
              <a:buNone/>
              <a:defRPr sz="3000"/>
            </a:lvl7pPr>
            <a:lvl8pPr marL="4800600" indent="0" algn="ctr">
              <a:buNone/>
              <a:defRPr sz="3000"/>
            </a:lvl8pPr>
            <a:lvl9pPr marL="5486400" indent="0" algn="ctr">
              <a:buNone/>
              <a:defRPr sz="3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4393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49515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645920" y="1138428"/>
            <a:ext cx="15087600" cy="5349240"/>
          </a:xfrm>
        </p:spPr>
        <p:txBody>
          <a:bodyPr anchor="b" anchorCtr="0">
            <a:normAutofit/>
          </a:bodyPr>
          <a:lstStyle>
            <a:lvl1pPr>
              <a:lnSpc>
                <a:spcPct val="85000"/>
              </a:lnSpc>
              <a:defRPr sz="12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45920" y="6679692"/>
            <a:ext cx="15087600" cy="1714500"/>
          </a:xfrm>
        </p:spPr>
        <p:txBody>
          <a:bodyPr lIns="91440" rIns="91440" anchor="t" anchorCtr="0">
            <a:normAutofit/>
          </a:bodyPr>
          <a:lstStyle>
            <a:lvl1pPr marL="0" indent="0">
              <a:buNone/>
              <a:defRPr sz="3600" cap="all" spc="300" baseline="0">
                <a:solidFill>
                  <a:schemeClr val="tx2"/>
                </a:solidFill>
                <a:latin typeface="+mj-lt"/>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cxnSp>
        <p:nvCxnSpPr>
          <p:cNvPr id="9" name="Straight Connector 8"/>
          <p:cNvCxnSpPr/>
          <p:nvPr/>
        </p:nvCxnSpPr>
        <p:spPr>
          <a:xfrm>
            <a:off x="1811487" y="6515100"/>
            <a:ext cx="148132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88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645919" y="2768601"/>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26880" y="2768603"/>
            <a:ext cx="7406640" cy="6035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70358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645920" y="429905"/>
            <a:ext cx="15087600" cy="21761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592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64592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26880" y="2769078"/>
            <a:ext cx="7406640" cy="1104423"/>
          </a:xfrm>
        </p:spPr>
        <p:txBody>
          <a:bodyPr lIns="91440" rIns="91440" anchor="ctr">
            <a:normAutofit/>
          </a:bodyPr>
          <a:lstStyle>
            <a:lvl1pPr marL="0" indent="0">
              <a:buNone/>
              <a:defRPr sz="3000" b="0" cap="all" baseline="0">
                <a:solidFill>
                  <a:schemeClr val="tx2"/>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26880" y="3873501"/>
            <a:ext cx="7406640" cy="506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45472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8344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239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25" y="0"/>
            <a:ext cx="6076187"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6060107" y="0"/>
            <a:ext cx="96012"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685800" y="891538"/>
            <a:ext cx="4800600" cy="3429000"/>
          </a:xfrm>
        </p:spPr>
        <p:txBody>
          <a:bodyPr anchor="b">
            <a:normAutofit/>
          </a:bodyPr>
          <a:lstStyle>
            <a:lvl1pPr>
              <a:defRPr sz="5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200900" y="1097280"/>
            <a:ext cx="9738360" cy="7886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4389120"/>
            <a:ext cx="4800600" cy="5068686"/>
          </a:xfrm>
        </p:spPr>
        <p:txBody>
          <a:bodyPr lIns="91440" rIns="91440">
            <a:normAutofit/>
          </a:bodyPr>
          <a:lstStyle>
            <a:lvl1pPr marL="0" indent="0">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a:xfrm>
            <a:off x="698268" y="9689678"/>
            <a:ext cx="3927765" cy="547688"/>
          </a:xfrm>
        </p:spPr>
        <p:txBody>
          <a:bodyPr/>
          <a:lstStyle>
            <a:lvl1pPr algn="l">
              <a:defRPr/>
            </a:lvl1pPr>
          </a:lstStyle>
          <a:p>
            <a:fld id="{1D8BD707-D9CF-40AE-B4C6-C98DA3205C09}" type="datetimeFigureOut">
              <a:rPr lang="en-US" smtClean="0"/>
              <a:pPr/>
              <a:t>8/19/2026</a:t>
            </a:fld>
            <a:endParaRPr lang="en-US" dirty="0"/>
          </a:p>
        </p:txBody>
      </p:sp>
      <p:sp>
        <p:nvSpPr>
          <p:cNvPr id="6" name="Footer Placeholder 5"/>
          <p:cNvSpPr>
            <a:spLocks noGrp="1"/>
          </p:cNvSpPr>
          <p:nvPr>
            <p:ph type="ftr" sz="quarter" idx="11"/>
          </p:nvPr>
        </p:nvSpPr>
        <p:spPr>
          <a:xfrm>
            <a:off x="7200900" y="9689678"/>
            <a:ext cx="6972300" cy="547688"/>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54042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7429500"/>
            <a:ext cx="18283238" cy="285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23" y="737261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1645920" y="7612380"/>
            <a:ext cx="15169896" cy="1234440"/>
          </a:xfrm>
        </p:spPr>
        <p:txBody>
          <a:bodyPr lIns="91440" tIns="0" rIns="91440" bIns="0" anchor="b">
            <a:noAutofit/>
          </a:bodyPr>
          <a:lstStyle>
            <a:lvl1pPr>
              <a:defRPr sz="54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3" y="0"/>
            <a:ext cx="18287978" cy="7372614"/>
          </a:xfrm>
          <a:blipFill>
            <a:blip r:embed="rId2"/>
            <a:stretch>
              <a:fillRect/>
            </a:stretch>
          </a:blipFill>
        </p:spPr>
        <p:txBody>
          <a:bodyPr lIns="457200" tIns="457200" anchor="t"/>
          <a:lstStyle>
            <a:lvl1pPr marL="0" indent="0">
              <a:buNone/>
              <a:defRPr sz="4800">
                <a:solidFill>
                  <a:schemeClr val="bg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dirty="0"/>
              <a:t>Click icon to add picture</a:t>
            </a:r>
          </a:p>
        </p:txBody>
      </p:sp>
      <p:sp>
        <p:nvSpPr>
          <p:cNvPr id="4" name="Text Placeholder 3"/>
          <p:cNvSpPr>
            <a:spLocks noGrp="1"/>
          </p:cNvSpPr>
          <p:nvPr>
            <p:ph type="body" sz="half" idx="2"/>
          </p:nvPr>
        </p:nvSpPr>
        <p:spPr>
          <a:xfrm>
            <a:off x="1645920" y="8860535"/>
            <a:ext cx="15169896" cy="891540"/>
          </a:xfrm>
        </p:spPr>
        <p:txBody>
          <a:bodyPr lIns="91440" tIns="0" rIns="91440" bIns="0">
            <a:normAutofit/>
          </a:bodyPr>
          <a:lstStyle>
            <a:lvl1pPr marL="0" indent="0">
              <a:spcBef>
                <a:spcPts val="0"/>
              </a:spcBef>
              <a:spcAft>
                <a:spcPts val="900"/>
              </a:spcAft>
              <a:buNone/>
              <a:defRPr sz="2250">
                <a:solidFill>
                  <a:srgbClr val="FFFFFF"/>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32003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09126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4763" y="9601200"/>
            <a:ext cx="18283238"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23" y="9501474"/>
            <a:ext cx="18283238" cy="960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Vertical Title 1"/>
          <p:cNvSpPr>
            <a:spLocks noGrp="1"/>
          </p:cNvSpPr>
          <p:nvPr>
            <p:ph type="title" orient="vert"/>
          </p:nvPr>
        </p:nvSpPr>
        <p:spPr>
          <a:xfrm>
            <a:off x="13087350" y="622168"/>
            <a:ext cx="3943350" cy="86361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622167"/>
            <a:ext cx="11601450" cy="8636133"/>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19071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53483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18897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69155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21804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9073804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76359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181085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2472723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57419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943301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939869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42D17F-4A0C-4A84-AB53-839898241FAD}" type="datetimeFigureOut">
              <a:rPr lang="en-IN" smtClean="0"/>
              <a:t>19-08-2026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6B97947-C50A-4CF7-AA46-BD17AEC63727}" type="slidenum">
              <a:rPr lang="en-IN" smtClean="0"/>
              <a:t>‹#›</a:t>
            </a:fld>
            <a:endParaRPr lang="en-IN"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
            <a:ext cx="18288000" cy="10287000"/>
          </a:xfrm>
          <a:prstGeom prst="rect">
            <a:avLst/>
          </a:prstGeom>
        </p:spPr>
      </p:pic>
    </p:spTree>
    <p:extLst>
      <p:ext uri="{BB962C8B-B14F-4D97-AF65-F5344CB8AC3E}">
        <p14:creationId xmlns:p14="http://schemas.microsoft.com/office/powerpoint/2010/main" val="18761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9601200"/>
            <a:ext cx="18288000" cy="685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1" y="9501474"/>
            <a:ext cx="18288002" cy="98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645920" y="429905"/>
            <a:ext cx="15087600" cy="217613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645920" y="2768601"/>
            <a:ext cx="15087600" cy="603504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45921" y="9689678"/>
            <a:ext cx="3708407" cy="547688"/>
          </a:xfrm>
          <a:prstGeom prst="rect">
            <a:avLst/>
          </a:prstGeom>
        </p:spPr>
        <p:txBody>
          <a:bodyPr vert="horz" lIns="91440" tIns="45720" rIns="91440" bIns="45720" rtlCol="0" anchor="ctr"/>
          <a:lstStyle>
            <a:lvl1pPr algn="l">
              <a:defRPr sz="1350">
                <a:solidFill>
                  <a:srgbClr val="FFFFFF"/>
                </a:solidFill>
              </a:defRPr>
            </a:lvl1p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3"/>
          </p:nvPr>
        </p:nvSpPr>
        <p:spPr>
          <a:xfrm>
            <a:off x="5529278" y="9689678"/>
            <a:ext cx="7234206" cy="547688"/>
          </a:xfrm>
          <a:prstGeom prst="rect">
            <a:avLst/>
          </a:prstGeom>
        </p:spPr>
        <p:txBody>
          <a:bodyPr vert="horz" lIns="91440" tIns="45720" rIns="91440" bIns="45720" rtlCol="0" anchor="ctr"/>
          <a:lstStyle>
            <a:lvl1pPr algn="ctr">
              <a:defRPr sz="135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4850688" y="9689678"/>
            <a:ext cx="1968038" cy="547688"/>
          </a:xfrm>
          <a:prstGeom prst="rect">
            <a:avLst/>
          </a:prstGeom>
        </p:spPr>
        <p:txBody>
          <a:bodyPr vert="horz" lIns="91440" tIns="45720" rIns="91440" bIns="45720" rtlCol="0" anchor="ctr"/>
          <a:lstStyle>
            <a:lvl1pPr algn="r">
              <a:defRPr sz="1575">
                <a:solidFill>
                  <a:srgbClr val="FFFFFF"/>
                </a:solidFill>
              </a:defRPr>
            </a:lvl1pPr>
          </a:lstStyle>
          <a:p>
            <a:fld id="{B6F15528-21DE-4FAA-801E-634DDDAF4B2B}" type="slidenum">
              <a:rPr lang="en-US" smtClean="0"/>
              <a:pPr/>
              <a:t>‹#›</a:t>
            </a:fld>
            <a:endParaRPr lang="en-US" dirty="0"/>
          </a:p>
        </p:txBody>
      </p:sp>
      <p:cxnSp>
        <p:nvCxnSpPr>
          <p:cNvPr id="10" name="Straight Connector 9"/>
          <p:cNvCxnSpPr/>
          <p:nvPr/>
        </p:nvCxnSpPr>
        <p:spPr>
          <a:xfrm>
            <a:off x="1790298" y="2606768"/>
            <a:ext cx="149504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26681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1371600" rtl="0" eaLnBrk="1" latinLnBrk="0" hangingPunct="1">
        <a:lnSpc>
          <a:spcPct val="85000"/>
        </a:lnSpc>
        <a:spcBef>
          <a:spcPct val="0"/>
        </a:spcBef>
        <a:buNone/>
        <a:defRPr sz="7200" kern="1200" spc="-75" baseline="0">
          <a:solidFill>
            <a:schemeClr val="tx1">
              <a:lumMod val="75000"/>
              <a:lumOff val="25000"/>
            </a:schemeClr>
          </a:solidFill>
          <a:latin typeface="+mj-lt"/>
          <a:ea typeface="+mj-ea"/>
          <a:cs typeface="+mj-cs"/>
        </a:defRPr>
      </a:lvl1pPr>
    </p:titleStyle>
    <p:bodyStyle>
      <a:lvl1pPr marL="137160" indent="-137160" algn="l" defTabSz="1371600" rtl="0" eaLnBrk="1" latinLnBrk="0" hangingPunct="1">
        <a:lnSpc>
          <a:spcPct val="90000"/>
        </a:lnSpc>
        <a:spcBef>
          <a:spcPts val="1800"/>
        </a:spcBef>
        <a:spcAft>
          <a:spcPts val="300"/>
        </a:spcAft>
        <a:buClr>
          <a:schemeClr val="accent1"/>
        </a:buClr>
        <a:buSzPct val="100000"/>
        <a:buFont typeface="Calibri" panose="020F0502020204030204" pitchFamily="34" charset="0"/>
        <a:buChar char=" "/>
        <a:defRPr sz="3000" kern="1200">
          <a:solidFill>
            <a:schemeClr val="tx1">
              <a:lumMod val="75000"/>
              <a:lumOff val="25000"/>
            </a:schemeClr>
          </a:solidFill>
          <a:latin typeface="+mn-lt"/>
          <a:ea typeface="+mn-ea"/>
          <a:cs typeface="+mn-cs"/>
        </a:defRPr>
      </a:lvl1pPr>
      <a:lvl2pPr marL="576072" indent="-274320" algn="l" defTabSz="1371600" rtl="0" eaLnBrk="1" latinLnBrk="0" hangingPunct="1">
        <a:lnSpc>
          <a:spcPct val="90000"/>
        </a:lnSpc>
        <a:spcBef>
          <a:spcPts val="300"/>
        </a:spcBef>
        <a:spcAft>
          <a:spcPts val="600"/>
        </a:spcAft>
        <a:buClr>
          <a:schemeClr val="accent1"/>
        </a:buClr>
        <a:buFont typeface="Calibri" pitchFamily="34" charset="0"/>
        <a:buChar char="◦"/>
        <a:defRPr sz="2700" kern="1200">
          <a:solidFill>
            <a:schemeClr val="tx1">
              <a:lumMod val="75000"/>
              <a:lumOff val="25000"/>
            </a:schemeClr>
          </a:solidFill>
          <a:latin typeface="+mn-lt"/>
          <a:ea typeface="+mn-ea"/>
          <a:cs typeface="+mn-cs"/>
        </a:defRPr>
      </a:lvl2pPr>
      <a:lvl3pPr marL="85039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3pPr>
      <a:lvl4pPr marL="112471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4pPr>
      <a:lvl5pPr marL="1399032" indent="-27432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5pPr>
      <a:lvl6pPr marL="16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6pPr>
      <a:lvl7pPr marL="19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7pPr>
      <a:lvl8pPr marL="22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8pPr>
      <a:lvl9pPr marL="2550000" indent="-342900" algn="l" defTabSz="1371600" rtl="0" eaLnBrk="1" latinLnBrk="0" hangingPunct="1">
        <a:lnSpc>
          <a:spcPct val="90000"/>
        </a:lnSpc>
        <a:spcBef>
          <a:spcPts val="300"/>
        </a:spcBef>
        <a:spcAft>
          <a:spcPts val="600"/>
        </a:spcAft>
        <a:buClr>
          <a:schemeClr val="accent1"/>
        </a:buClr>
        <a:buFont typeface="Calibri" pitchFamily="34" charset="0"/>
        <a:buChar char="◦"/>
        <a:defRPr sz="2100" kern="1200">
          <a:solidFill>
            <a:schemeClr val="tx1">
              <a:lumMod val="75000"/>
              <a:lumOff val="2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8/19/2026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3496857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p>
        </p:txBody>
      </p:sp>
      <p:sp>
        <p:nvSpPr>
          <p:cNvPr id="3" name="Freeform 3"/>
          <p:cNvSpPr/>
          <p:nvPr/>
        </p:nvSpPr>
        <p:spPr>
          <a:xfrm>
            <a:off x="108681" y="8392491"/>
            <a:ext cx="18070639" cy="1098208"/>
          </a:xfrm>
          <a:custGeom>
            <a:avLst/>
            <a:gdLst/>
            <a:ahLst/>
            <a:cxnLst/>
            <a:rect l="l" t="t" r="r" b="b"/>
            <a:pathLst>
              <a:path w="18070639" h="1098208">
                <a:moveTo>
                  <a:pt x="0" y="0"/>
                </a:moveTo>
                <a:lnTo>
                  <a:pt x="18070638" y="0"/>
                </a:lnTo>
                <a:lnTo>
                  <a:pt x="18070638" y="1098208"/>
                </a:lnTo>
                <a:lnTo>
                  <a:pt x="0" y="1098208"/>
                </a:lnTo>
                <a:lnTo>
                  <a:pt x="0" y="0"/>
                </a:lnTo>
                <a:close/>
              </a:path>
            </a:pathLst>
          </a:custGeom>
          <a:blipFill>
            <a:blip r:embed="rId3"/>
            <a:stretch>
              <a:fillRect b="-605"/>
            </a:stretch>
          </a:blipFill>
        </p:spPr>
        <p:txBody>
          <a:bodyPr/>
          <a:lstStyle/>
          <a:p>
            <a:endParaRPr lang="en-IN"/>
          </a:p>
        </p:txBody>
      </p:sp>
      <p:sp>
        <p:nvSpPr>
          <p:cNvPr id="8" name="TextBox 8"/>
          <p:cNvSpPr txBox="1"/>
          <p:nvPr/>
        </p:nvSpPr>
        <p:spPr>
          <a:xfrm>
            <a:off x="1479529" y="1485900"/>
            <a:ext cx="15328942" cy="689526"/>
          </a:xfrm>
          <a:prstGeom prst="rect">
            <a:avLst/>
          </a:prstGeom>
        </p:spPr>
        <p:txBody>
          <a:bodyPr lIns="50800" tIns="50800" rIns="50800" bIns="50800" rtlCol="0" anchor="t"/>
          <a:lstStyle/>
          <a:p>
            <a:pPr algn="ctr">
              <a:lnSpc>
                <a:spcPts val="4320"/>
              </a:lnSpc>
            </a:pPr>
            <a:r>
              <a:rPr lang="en-US" sz="4800" b="1" dirty="0">
                <a:solidFill>
                  <a:srgbClr val="660087"/>
                </a:solidFill>
                <a:latin typeface="Times New Roman" panose="02020603050405020304" pitchFamily="18" charset="0"/>
                <a:ea typeface="Red Hat Display Bold"/>
                <a:cs typeface="Times New Roman" panose="02020603050405020304" pitchFamily="18" charset="0"/>
                <a:sym typeface="Red Hat Display Bold"/>
              </a:rPr>
              <a:t>Department of Data Science, IoT and Cyber Security</a:t>
            </a:r>
          </a:p>
        </p:txBody>
      </p:sp>
      <p:sp>
        <p:nvSpPr>
          <p:cNvPr id="12" name="Google Shape;50;p11">
            <a:extLst>
              <a:ext uri="{FF2B5EF4-FFF2-40B4-BE49-F238E27FC236}">
                <a16:creationId xmlns:a16="http://schemas.microsoft.com/office/drawing/2014/main" id="{8D80476F-A3C2-E415-41F4-DBF08632EEE3}"/>
              </a:ext>
            </a:extLst>
          </p:cNvPr>
          <p:cNvSpPr txBox="1"/>
          <p:nvPr/>
        </p:nvSpPr>
        <p:spPr>
          <a:xfrm>
            <a:off x="1284370" y="2579189"/>
            <a:ext cx="15719260" cy="1754246"/>
          </a:xfrm>
          <a:prstGeom prst="rect">
            <a:avLst/>
          </a:prstGeom>
          <a:noFill/>
          <a:ln>
            <a:noFill/>
          </a:ln>
        </p:spPr>
        <p:txBody>
          <a:bodyPr spcFirstLastPara="1" wrap="square" lIns="182850" tIns="91400" rIns="182850" bIns="91400" anchor="t" anchorCtr="0">
            <a:spAutoFit/>
          </a:bodyPr>
          <a:lstStyle/>
          <a:p>
            <a:pPr lvl="0" algn="ctr">
              <a:lnSpc>
                <a:spcPct val="150000"/>
              </a:lnSpc>
            </a:pPr>
            <a:r>
              <a:rPr lang="en-IN" sz="3400" b="1" dirty="0">
                <a:latin typeface="Times New Roman" panose="02020603050405020304" pitchFamily="18" charset="0"/>
                <a:cs typeface="Times New Roman" panose="02020603050405020304" pitchFamily="18" charset="0"/>
              </a:rPr>
              <a:t>Design and Development of an Autonomous Cyber Threat Hunting Agent Using Reinforcement Learning </a:t>
            </a:r>
            <a:endParaRPr sz="3400" b="1"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3" name="Google Shape;51;p11">
            <a:extLst>
              <a:ext uri="{FF2B5EF4-FFF2-40B4-BE49-F238E27FC236}">
                <a16:creationId xmlns:a16="http://schemas.microsoft.com/office/drawing/2014/main" id="{BB822B0E-9ED7-D1EE-720E-9C3E959EE420}"/>
              </a:ext>
            </a:extLst>
          </p:cNvPr>
          <p:cNvSpPr txBox="1"/>
          <p:nvPr/>
        </p:nvSpPr>
        <p:spPr>
          <a:xfrm>
            <a:off x="2819398" y="5759708"/>
            <a:ext cx="5277964" cy="1969690"/>
          </a:xfrm>
          <a:prstGeom prst="rect">
            <a:avLst/>
          </a:prstGeom>
          <a:noFill/>
          <a:ln>
            <a:noFill/>
          </a:ln>
        </p:spPr>
        <p:txBody>
          <a:bodyPr spcFirstLastPara="1" wrap="square" lIns="182850" tIns="91400" rIns="182850" bIns="91400" anchor="t" anchorCtr="0">
            <a:noAutofit/>
          </a:bodyPr>
          <a:lstStyle/>
          <a:p>
            <a:pPr algn="ctr">
              <a:buClr>
                <a:srgbClr val="000000"/>
              </a:buClr>
              <a:buSzPts val="1600"/>
            </a:pPr>
            <a:r>
              <a:rPr lang="en-US" sz="3200" b="1" dirty="0">
                <a:solidFill>
                  <a:srgbClr val="000000"/>
                </a:solidFill>
                <a:latin typeface="Times New Roman" panose="02020603050405020304" pitchFamily="18" charset="0"/>
                <a:ea typeface="Times New Roman"/>
                <a:cs typeface="Times New Roman" panose="02020603050405020304" pitchFamily="18" charset="0"/>
                <a:sym typeface="Times New Roman"/>
              </a:rPr>
              <a:t>Presented By</a:t>
            </a:r>
            <a:endParaRPr lang="en-US" sz="3200" b="1" dirty="0">
              <a:latin typeface="Times New Roman" panose="02020603050405020304" pitchFamily="18" charset="0"/>
              <a:cs typeface="Times New Roman" panose="02020603050405020304" pitchFamily="18" charset="0"/>
              <a:sym typeface="Times New Roman"/>
            </a:endParaRPr>
          </a:p>
          <a:p>
            <a:pPr algn="ctr">
              <a:spcBef>
                <a:spcPts val="560"/>
              </a:spcBef>
              <a:buClr>
                <a:srgbClr val="000000"/>
              </a:buClr>
              <a:buSzPts val="1400"/>
            </a:pPr>
            <a:r>
              <a:rPr lang="en-IN" sz="2400" b="1" dirty="0">
                <a:solidFill>
                  <a:srgbClr val="000000"/>
                </a:solidFill>
                <a:latin typeface="Times New Roman"/>
                <a:ea typeface="Times New Roman"/>
                <a:cs typeface="Times New Roman"/>
                <a:sym typeface="Times New Roman"/>
              </a:rPr>
              <a:t>07-Kalash Singh</a:t>
            </a:r>
            <a:br>
              <a:rPr lang="en-IN" sz="2400" b="1" dirty="0">
                <a:solidFill>
                  <a:srgbClr val="000000"/>
                </a:solidFill>
                <a:latin typeface="Times New Roman"/>
                <a:ea typeface="Times New Roman"/>
                <a:cs typeface="Times New Roman"/>
                <a:sym typeface="Times New Roman"/>
              </a:rPr>
            </a:br>
            <a:r>
              <a:rPr lang="en-IN" sz="2400" b="1" dirty="0">
                <a:solidFill>
                  <a:srgbClr val="000000"/>
                </a:solidFill>
                <a:latin typeface="Times New Roman"/>
                <a:ea typeface="Times New Roman"/>
                <a:cs typeface="Times New Roman"/>
                <a:sym typeface="Times New Roman"/>
              </a:rPr>
              <a:t>17-Riya </a:t>
            </a:r>
            <a:r>
              <a:rPr lang="en-IN" sz="2400" b="1" dirty="0" err="1">
                <a:solidFill>
                  <a:srgbClr val="000000"/>
                </a:solidFill>
                <a:latin typeface="Times New Roman"/>
                <a:ea typeface="Times New Roman"/>
                <a:cs typeface="Times New Roman"/>
                <a:sym typeface="Times New Roman"/>
              </a:rPr>
              <a:t>Dhopre</a:t>
            </a:r>
            <a:br>
              <a:rPr lang="en-IN" sz="2400" b="1" dirty="0">
                <a:solidFill>
                  <a:srgbClr val="000000"/>
                </a:solidFill>
                <a:latin typeface="Times New Roman"/>
                <a:ea typeface="Times New Roman"/>
                <a:cs typeface="Times New Roman"/>
                <a:sym typeface="Times New Roman"/>
              </a:rPr>
            </a:br>
            <a:r>
              <a:rPr lang="en-IN" sz="2400" b="1" dirty="0">
                <a:solidFill>
                  <a:srgbClr val="000000"/>
                </a:solidFill>
                <a:latin typeface="Times New Roman"/>
                <a:ea typeface="Times New Roman"/>
                <a:cs typeface="Times New Roman"/>
                <a:sym typeface="Times New Roman"/>
              </a:rPr>
              <a:t>37-Ayush Wanjari</a:t>
            </a:r>
            <a:endParaRPr sz="2400" b="1" dirty="0">
              <a:solidFill>
                <a:srgbClr val="000000"/>
              </a:solidFill>
              <a:latin typeface="Times New Roman"/>
              <a:ea typeface="Times New Roman"/>
              <a:cs typeface="Times New Roman"/>
              <a:sym typeface="Times New Roman"/>
            </a:endParaRPr>
          </a:p>
        </p:txBody>
      </p:sp>
      <p:sp>
        <p:nvSpPr>
          <p:cNvPr id="5" name="Google Shape;51;p11">
            <a:extLst>
              <a:ext uri="{FF2B5EF4-FFF2-40B4-BE49-F238E27FC236}">
                <a16:creationId xmlns:a16="http://schemas.microsoft.com/office/drawing/2014/main" id="{DFE84694-FEC3-AF62-18C3-54C9023F632F}"/>
              </a:ext>
            </a:extLst>
          </p:cNvPr>
          <p:cNvSpPr txBox="1"/>
          <p:nvPr/>
        </p:nvSpPr>
        <p:spPr>
          <a:xfrm>
            <a:off x="10546772" y="5756244"/>
            <a:ext cx="5277964" cy="1969690"/>
          </a:xfrm>
          <a:prstGeom prst="rect">
            <a:avLst/>
          </a:prstGeom>
          <a:noFill/>
          <a:ln>
            <a:noFill/>
          </a:ln>
        </p:spPr>
        <p:txBody>
          <a:bodyPr spcFirstLastPara="1" wrap="square" lIns="182850" tIns="91400" rIns="182850" bIns="91400" anchor="t" anchorCtr="0">
            <a:noAutofit/>
          </a:bodyPr>
          <a:lstStyle/>
          <a:p>
            <a:pPr algn="ctr">
              <a:buClr>
                <a:srgbClr val="000000"/>
              </a:buClr>
              <a:buSzPts val="1600"/>
            </a:pPr>
            <a:r>
              <a:rPr lang="en-US" sz="3200" b="1" dirty="0">
                <a:solidFill>
                  <a:srgbClr val="000000"/>
                </a:solidFill>
                <a:latin typeface="Times New Roman" panose="02020603050405020304" pitchFamily="18" charset="0"/>
                <a:ea typeface="Times New Roman"/>
                <a:cs typeface="Times New Roman" panose="02020603050405020304" pitchFamily="18" charset="0"/>
                <a:sym typeface="Times New Roman"/>
              </a:rPr>
              <a:t>Guided By</a:t>
            </a:r>
            <a:endParaRPr lang="en-US" sz="3200" b="1" dirty="0">
              <a:latin typeface="Times New Roman" panose="02020603050405020304" pitchFamily="18" charset="0"/>
              <a:cs typeface="Times New Roman" panose="02020603050405020304" pitchFamily="18" charset="0"/>
              <a:sym typeface="Times New Roman"/>
            </a:endParaRPr>
          </a:p>
          <a:p>
            <a:pPr algn="ctr">
              <a:spcBef>
                <a:spcPts val="560"/>
              </a:spcBef>
              <a:buClr>
                <a:srgbClr val="000000"/>
              </a:buClr>
              <a:buSzPts val="1400"/>
            </a:pPr>
            <a:r>
              <a:rPr lang="en-IN" sz="2400" b="1" dirty="0">
                <a:solidFill>
                  <a:srgbClr val="000000"/>
                </a:solidFill>
                <a:latin typeface="Times New Roman"/>
                <a:ea typeface="Times New Roman"/>
                <a:cs typeface="Times New Roman"/>
                <a:sym typeface="Times New Roman"/>
              </a:rPr>
              <a:t>Dr. Nekita Chavhan Morris</a:t>
            </a:r>
            <a:br>
              <a:rPr lang="en-IN" sz="2400" b="1" dirty="0">
                <a:solidFill>
                  <a:srgbClr val="000000"/>
                </a:solidFill>
                <a:latin typeface="Times New Roman"/>
                <a:ea typeface="Times New Roman"/>
                <a:cs typeface="Times New Roman"/>
                <a:sym typeface="Times New Roman"/>
              </a:rPr>
            </a:br>
            <a:r>
              <a:rPr lang="en-IN" sz="2400" b="1" dirty="0">
                <a:solidFill>
                  <a:srgbClr val="000000"/>
                </a:solidFill>
                <a:latin typeface="Times New Roman"/>
                <a:ea typeface="Times New Roman"/>
                <a:cs typeface="Times New Roman"/>
                <a:sym typeface="Times New Roman"/>
              </a:rPr>
              <a:t>(HOD DIC)</a:t>
            </a:r>
            <a:endParaRPr sz="2400" b="1" dirty="0">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234FF8D-4869-36D2-1C91-4810191559E1}"/>
              </a:ext>
            </a:extLst>
          </p:cNvPr>
          <p:cNvSpPr txBox="1"/>
          <p:nvPr/>
        </p:nvSpPr>
        <p:spPr>
          <a:xfrm>
            <a:off x="18851880" y="9936480"/>
            <a:ext cx="184731" cy="369332"/>
          </a:xfrm>
          <a:prstGeom prst="rect">
            <a:avLst/>
          </a:prstGeom>
          <a:noFill/>
        </p:spPr>
        <p:txBody>
          <a:bodyPr wrap="none" rtlCol="0">
            <a:spAutoFit/>
          </a:bodyPr>
          <a:lstStyle/>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US" dirty="0"/>
          </a:p>
        </p:txBody>
      </p:sp>
      <p:sp>
        <p:nvSpPr>
          <p:cNvPr id="4" name="TextBox 4"/>
          <p:cNvSpPr txBox="1"/>
          <p:nvPr/>
        </p:nvSpPr>
        <p:spPr>
          <a:xfrm>
            <a:off x="7269106" y="521475"/>
            <a:ext cx="3749788" cy="820738"/>
          </a:xfrm>
          <a:prstGeom prst="rect">
            <a:avLst/>
          </a:prstGeom>
        </p:spPr>
        <p:txBody>
          <a:bodyPr lIns="0" tIns="0" rIns="0" bIns="0" rtlCol="0" anchor="t">
            <a:spAutoFit/>
          </a:bodyPr>
          <a:lstStyle/>
          <a:p>
            <a:pPr algn="l">
              <a:lnSpc>
                <a:spcPts val="6415"/>
              </a:lnSpc>
            </a:pPr>
            <a:r>
              <a:rPr lang="en-US" sz="5800" b="1" dirty="0">
                <a:solidFill>
                  <a:srgbClr val="000000"/>
                </a:solidFill>
                <a:latin typeface="Times New Roman Bold"/>
                <a:ea typeface="Times New Roman Bold"/>
                <a:cs typeface="Times New Roman Bold"/>
                <a:sym typeface="Times New Roman Bold"/>
              </a:rPr>
              <a:t>Contents</a:t>
            </a:r>
          </a:p>
        </p:txBody>
      </p:sp>
      <p:sp>
        <p:nvSpPr>
          <p:cNvPr id="8" name="TextBox 3">
            <a:extLst>
              <a:ext uri="{FF2B5EF4-FFF2-40B4-BE49-F238E27FC236}">
                <a16:creationId xmlns:a16="http://schemas.microsoft.com/office/drawing/2014/main" id="{13D6BF0F-FE47-B630-336F-B605245B37BA}"/>
              </a:ext>
            </a:extLst>
          </p:cNvPr>
          <p:cNvSpPr txBox="1"/>
          <p:nvPr/>
        </p:nvSpPr>
        <p:spPr>
          <a:xfrm>
            <a:off x="2514600" y="2019300"/>
            <a:ext cx="6309360" cy="12074844"/>
          </a:xfrm>
          <a:prstGeom prst="rect">
            <a:avLst/>
          </a:prstGeom>
        </p:spPr>
        <p:txBody>
          <a:bodyPr wrap="square" lIns="0" tIns="0" rIns="0" bIns="0" rtlCol="0" anchor="t">
            <a:spAutoFit/>
          </a:bodyPr>
          <a:lstStyle/>
          <a:p>
            <a:pPr marL="488632" lvl="1" indent="-244316" algn="l">
              <a:buFont typeface="Arial"/>
              <a:buChar char="•"/>
            </a:pPr>
            <a:r>
              <a:rPr lang="en-US" sz="3300" b="1" dirty="0">
                <a:solidFill>
                  <a:srgbClr val="000000"/>
                </a:solidFill>
                <a:latin typeface="Times New Roman Bold"/>
                <a:ea typeface="Times New Roman Bold"/>
                <a:cs typeface="Times New Roman Bold"/>
                <a:sym typeface="Times New Roman Bold"/>
              </a:rPr>
              <a:t>Introduction</a:t>
            </a:r>
          </a:p>
          <a:p>
            <a:pPr marL="244316" lvl="1" algn="l"/>
            <a:endParaRPr lang="en-US" sz="3300" b="1" dirty="0">
              <a:solidFill>
                <a:srgbClr val="000000"/>
              </a:solidFill>
              <a:latin typeface="Times New Roman Bold"/>
              <a:ea typeface="Times New Roman Bold"/>
              <a:cs typeface="Times New Roman Bold"/>
              <a:sym typeface="Times New Roman Bold"/>
            </a:endParaRPr>
          </a:p>
          <a:p>
            <a:pPr marL="488632" lvl="1" indent="-244316" algn="l">
              <a:buFont typeface="Arial"/>
              <a:buChar char="•"/>
            </a:pPr>
            <a:r>
              <a:rPr lang="en-US" sz="3300" b="1" dirty="0">
                <a:solidFill>
                  <a:srgbClr val="000000"/>
                </a:solidFill>
                <a:latin typeface="Times New Roman Bold"/>
                <a:ea typeface="Times New Roman Bold"/>
                <a:cs typeface="Times New Roman Bold"/>
                <a:sym typeface="Times New Roman Bold"/>
              </a:rPr>
              <a:t>Problem Definition </a:t>
            </a:r>
          </a:p>
          <a:p>
            <a:pPr marL="244316" lvl="1" algn="l"/>
            <a:endParaRPr lang="en-US" sz="3300" b="1" dirty="0">
              <a:solidFill>
                <a:srgbClr val="000000"/>
              </a:solidFill>
              <a:latin typeface="Times New Roman Bold"/>
              <a:ea typeface="Times New Roman Bold"/>
              <a:cs typeface="Times New Roman Bold"/>
              <a:sym typeface="Times New Roman Bold"/>
            </a:endParaRPr>
          </a:p>
          <a:p>
            <a:pPr marL="488632" lvl="1" indent="-244316" algn="l">
              <a:buFont typeface="Arial"/>
              <a:buChar char="•"/>
            </a:pPr>
            <a:r>
              <a:rPr lang="en-US" sz="3300" b="1" dirty="0">
                <a:solidFill>
                  <a:srgbClr val="000000"/>
                </a:solidFill>
                <a:latin typeface="Times New Roman Bold"/>
                <a:ea typeface="Times New Roman Bold"/>
                <a:cs typeface="Times New Roman Bold"/>
                <a:sym typeface="Times New Roman Bold"/>
              </a:rPr>
              <a:t>Literature Survey</a:t>
            </a:r>
          </a:p>
          <a:p>
            <a:pPr marL="488632" lvl="1" indent="-244316" algn="l">
              <a:buFont typeface="Arial"/>
              <a:buChar char="•"/>
            </a:pPr>
            <a:endParaRPr lang="en-US" sz="3300" b="1" dirty="0">
              <a:solidFill>
                <a:srgbClr val="000000"/>
              </a:solidFill>
              <a:latin typeface="Times New Roman Bold"/>
              <a:ea typeface="Times New Roman Bold"/>
              <a:cs typeface="Times New Roman Bold"/>
              <a:sym typeface="Times New Roman Bold"/>
            </a:endParaRPr>
          </a:p>
          <a:p>
            <a:pPr marL="488632" lvl="1" indent="-244316" algn="l">
              <a:buFont typeface="Arial"/>
              <a:buChar char="•"/>
            </a:pPr>
            <a:r>
              <a:rPr lang="en-US" sz="3300" b="1" dirty="0">
                <a:solidFill>
                  <a:srgbClr val="000000"/>
                </a:solidFill>
                <a:latin typeface="Times New Roman Bold"/>
                <a:ea typeface="Times New Roman Bold"/>
                <a:cs typeface="Times New Roman Bold"/>
                <a:sym typeface="Times New Roman Bold"/>
              </a:rPr>
              <a:t>Gaps Identified </a:t>
            </a:r>
          </a:p>
          <a:p>
            <a:pPr marL="488632" lvl="1" indent="-244316" algn="l">
              <a:buFont typeface="Arial"/>
              <a:buChar char="•"/>
            </a:pPr>
            <a:endParaRPr lang="en-US" sz="3300" b="1" dirty="0">
              <a:solidFill>
                <a:srgbClr val="000000"/>
              </a:solidFill>
              <a:latin typeface="Times New Roman Bold"/>
              <a:ea typeface="Times New Roman Bold"/>
              <a:cs typeface="Times New Roman Bold"/>
              <a:sym typeface="Times New Roman Bold"/>
            </a:endParaRPr>
          </a:p>
          <a:p>
            <a:pPr marL="488632" lvl="1" indent="-244316" algn="l">
              <a:buFont typeface="Arial"/>
              <a:buChar char="•"/>
            </a:pPr>
            <a:r>
              <a:rPr lang="en-US" sz="3300" b="1" dirty="0">
                <a:solidFill>
                  <a:srgbClr val="000000"/>
                </a:solidFill>
                <a:latin typeface="Times New Roman Bold"/>
                <a:ea typeface="Times New Roman Bold"/>
                <a:cs typeface="Times New Roman Bold"/>
                <a:sym typeface="Times New Roman Bold"/>
              </a:rPr>
              <a:t>Objectives</a:t>
            </a:r>
          </a:p>
          <a:p>
            <a:pPr marL="244316" lvl="1" algn="l"/>
            <a:r>
              <a:rPr lang="en-US" sz="3300" b="1" dirty="0">
                <a:solidFill>
                  <a:srgbClr val="000000"/>
                </a:solidFill>
                <a:latin typeface="Times New Roman Bold"/>
                <a:ea typeface="Times New Roman Bold"/>
                <a:cs typeface="Times New Roman Bold"/>
                <a:sym typeface="Times New Roman Bold"/>
              </a:rPr>
              <a:t>                                                  </a:t>
            </a:r>
          </a:p>
          <a:p>
            <a:pPr marL="488632" lvl="1" indent="-244316" algn="l">
              <a:buFont typeface="Arial"/>
              <a:buChar char="•"/>
            </a:pPr>
            <a:r>
              <a:rPr lang="en-US" sz="3300" b="1" dirty="0">
                <a:solidFill>
                  <a:srgbClr val="000000"/>
                </a:solidFill>
                <a:latin typeface="Times New Roman Bold"/>
                <a:ea typeface="Times New Roman Bold"/>
                <a:cs typeface="Times New Roman Bold"/>
                <a:sym typeface="Times New Roman Bold"/>
              </a:rPr>
              <a:t>Methodology</a:t>
            </a:r>
          </a:p>
          <a:p>
            <a:pPr marL="488632" lvl="1" indent="-244316" algn="l">
              <a:buFont typeface="Arial"/>
              <a:buChar char="•"/>
            </a:pPr>
            <a:endParaRPr lang="en-US" sz="3300" b="1" dirty="0">
              <a:solidFill>
                <a:srgbClr val="000000"/>
              </a:solidFill>
              <a:latin typeface="Times New Roman Bold"/>
              <a:ea typeface="Times New Roman Bold"/>
              <a:cs typeface="Times New Roman Bold"/>
              <a:sym typeface="Times New Roman Bold"/>
            </a:endParaRPr>
          </a:p>
          <a:p>
            <a:pPr marL="488632" lvl="1" indent="-244316">
              <a:buFont typeface="Arial"/>
              <a:buChar char="•"/>
            </a:pPr>
            <a:r>
              <a:rPr lang="en-US" sz="3300" b="1" dirty="0">
                <a:solidFill>
                  <a:srgbClr val="000000"/>
                </a:solidFill>
                <a:latin typeface="Times New Roman Bold"/>
                <a:cs typeface="Times New Roman Bold"/>
                <a:sym typeface="Times New Roman Bold"/>
              </a:rPr>
              <a:t>Data Flow Diagram</a:t>
            </a:r>
          </a:p>
          <a:p>
            <a:pPr marL="488632" lvl="1" indent="-244316" algn="l">
              <a:buFont typeface="Arial"/>
              <a:buChar char="•"/>
            </a:pPr>
            <a:endParaRPr lang="en-US" sz="3300" b="1" dirty="0">
              <a:solidFill>
                <a:srgbClr val="000000"/>
              </a:solidFill>
              <a:latin typeface="Times New Roman Bold"/>
              <a:ea typeface="Times New Roman Bold"/>
              <a:cs typeface="Times New Roman Bold"/>
              <a:sym typeface="Times New Roman Bold"/>
            </a:endParaRPr>
          </a:p>
          <a:p>
            <a:pPr marL="488632" lvl="1" indent="-244316" algn="l">
              <a:buFont typeface="Arial"/>
              <a:buChar char="•"/>
            </a:pPr>
            <a:r>
              <a:rPr lang="en-US" sz="3300" b="1" dirty="0">
                <a:solidFill>
                  <a:srgbClr val="000000"/>
                </a:solidFill>
                <a:latin typeface="Times New Roman Bold"/>
                <a:ea typeface="Times New Roman Bold"/>
                <a:cs typeface="Times New Roman Bold"/>
                <a:sym typeface="Times New Roman Bold"/>
              </a:rPr>
              <a:t>References </a:t>
            </a:r>
          </a:p>
          <a:p>
            <a:pPr marL="488632" lvl="1" indent="-244316" algn="l">
              <a:lnSpc>
                <a:spcPts val="3887"/>
              </a:lnSpc>
              <a:buFont typeface="Arial"/>
              <a:buChar char="•"/>
            </a:pPr>
            <a:endParaRPr lang="en-US" sz="3300" b="1" dirty="0">
              <a:solidFill>
                <a:srgbClr val="000000"/>
              </a:solidFill>
              <a:latin typeface="Times New Roman Bold"/>
              <a:ea typeface="Times New Roman Bold"/>
              <a:cs typeface="Times New Roman Bold"/>
              <a:sym typeface="Times New Roman Bold"/>
            </a:endParaRPr>
          </a:p>
          <a:p>
            <a:pPr marL="488632" lvl="1" indent="-244316" algn="l">
              <a:lnSpc>
                <a:spcPts val="3887"/>
              </a:lnSpc>
              <a:buFont typeface="Arial"/>
              <a:buChar char="•"/>
            </a:pPr>
            <a:endParaRPr lang="en-US" sz="2700" b="1" dirty="0">
              <a:solidFill>
                <a:srgbClr val="000000"/>
              </a:solidFill>
              <a:latin typeface="Times New Roman Bold"/>
              <a:ea typeface="Times New Roman Bold"/>
              <a:cs typeface="Times New Roman Bold"/>
              <a:sym typeface="Times New Roman Bold"/>
            </a:endParaRPr>
          </a:p>
          <a:p>
            <a:pPr marL="488632" lvl="1" indent="-244316" algn="l">
              <a:lnSpc>
                <a:spcPts val="3887"/>
              </a:lnSpc>
              <a:buFont typeface="Arial"/>
              <a:buChar char="•"/>
            </a:pPr>
            <a:endParaRPr lang="en-US" sz="2700" b="1" dirty="0">
              <a:solidFill>
                <a:srgbClr val="000000"/>
              </a:solidFill>
              <a:latin typeface="Times New Roman Bold"/>
              <a:ea typeface="Times New Roman Bold"/>
              <a:cs typeface="Times New Roman Bold"/>
              <a:sym typeface="Times New Roman Bold"/>
            </a:endParaRPr>
          </a:p>
          <a:p>
            <a:pPr marL="488632" lvl="1" indent="-244316" algn="l">
              <a:lnSpc>
                <a:spcPts val="3887"/>
              </a:lnSpc>
              <a:buFont typeface="Arial"/>
              <a:buChar char="•"/>
            </a:pPr>
            <a:endParaRPr lang="en-US" sz="2700" b="1" dirty="0">
              <a:solidFill>
                <a:srgbClr val="000000"/>
              </a:solidFill>
              <a:latin typeface="Times New Roman Bold"/>
              <a:ea typeface="Times New Roman Bold"/>
              <a:cs typeface="Times New Roman Bold"/>
              <a:sym typeface="Times New Roman Bold"/>
            </a:endParaRPr>
          </a:p>
          <a:p>
            <a:pPr marL="488632" lvl="1" indent="-244316" algn="l">
              <a:lnSpc>
                <a:spcPts val="3887"/>
              </a:lnSpc>
              <a:buFont typeface="Arial"/>
              <a:buChar char="•"/>
            </a:pPr>
            <a:endParaRPr lang="en-US" sz="2700" b="1" dirty="0">
              <a:solidFill>
                <a:srgbClr val="000000"/>
              </a:solidFill>
              <a:latin typeface="Times New Roman Bold"/>
              <a:ea typeface="Times New Roman Bold"/>
              <a:cs typeface="Times New Roman Bold"/>
              <a:sym typeface="Times New Roman Bold"/>
            </a:endParaRPr>
          </a:p>
          <a:p>
            <a:pPr marL="488632" lvl="1" indent="-244316" algn="l">
              <a:lnSpc>
                <a:spcPts val="3887"/>
              </a:lnSpc>
              <a:buFont typeface="Arial"/>
              <a:buChar char="•"/>
            </a:pPr>
            <a:endParaRPr lang="en-US" sz="2700" b="1" dirty="0">
              <a:solidFill>
                <a:srgbClr val="000000"/>
              </a:solidFill>
              <a:latin typeface="Times New Roman Bold"/>
              <a:ea typeface="Times New Roman Bold"/>
              <a:cs typeface="Times New Roman Bold"/>
              <a:sym typeface="Times New Roman Bold"/>
            </a:endParaRPr>
          </a:p>
          <a:p>
            <a:pPr marL="244316" lvl="1" algn="l">
              <a:lnSpc>
                <a:spcPts val="3887"/>
              </a:lnSpc>
            </a:pPr>
            <a:r>
              <a:rPr lang="en-US" sz="2700" b="1" dirty="0">
                <a:solidFill>
                  <a:srgbClr val="000000"/>
                </a:solidFill>
                <a:latin typeface="Times New Roman Bold"/>
                <a:ea typeface="Times New Roman Bold"/>
                <a:cs typeface="Times New Roman Bold"/>
                <a:sym typeface="Times New Roman Bold"/>
              </a:rPr>
              <a:t>	                                                  </a:t>
            </a:r>
          </a:p>
          <a:p>
            <a:pPr algn="l">
              <a:lnSpc>
                <a:spcPts val="3887"/>
              </a:lnSpc>
            </a:pPr>
            <a:r>
              <a:rPr lang="en-US" sz="2700" b="1" dirty="0">
                <a:solidFill>
                  <a:srgbClr val="000000"/>
                </a:solidFill>
                <a:latin typeface="Times New Roman Bold"/>
                <a:ea typeface="Times New Roman Bold"/>
                <a:cs typeface="Times New Roman Bold"/>
                <a:sym typeface="Times New Roman Bold"/>
              </a:rPr>
              <a:t>   </a:t>
            </a:r>
          </a:p>
          <a:p>
            <a:pPr algn="l">
              <a:lnSpc>
                <a:spcPts val="3887"/>
              </a:lnSpc>
            </a:pPr>
            <a:r>
              <a:rPr lang="en-US" sz="2700" b="1" dirty="0">
                <a:solidFill>
                  <a:srgbClr val="000000"/>
                </a:solidFill>
                <a:latin typeface="Times New Roman Bold"/>
                <a:ea typeface="Times New Roman Bold"/>
                <a:cs typeface="Times New Roman Bold"/>
                <a:sym typeface="Times New Roman Bold"/>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E43B7-8C49-A7C2-82CA-FEF5A01F77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109889-89DC-832C-67A4-A39D3DBAF6AE}"/>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US" dirty="0"/>
          </a:p>
        </p:txBody>
      </p:sp>
      <p:sp>
        <p:nvSpPr>
          <p:cNvPr id="5" name="TextBox 4">
            <a:extLst>
              <a:ext uri="{FF2B5EF4-FFF2-40B4-BE49-F238E27FC236}">
                <a16:creationId xmlns:a16="http://schemas.microsoft.com/office/drawing/2014/main" id="{F0FE19BD-0FBD-8856-50C3-034CB9C8CBEE}"/>
              </a:ext>
            </a:extLst>
          </p:cNvPr>
          <p:cNvSpPr txBox="1"/>
          <p:nvPr/>
        </p:nvSpPr>
        <p:spPr>
          <a:xfrm>
            <a:off x="6553200" y="647700"/>
            <a:ext cx="5410200" cy="984885"/>
          </a:xfrm>
          <a:prstGeom prst="rect">
            <a:avLst/>
          </a:prstGeom>
          <a:noFill/>
        </p:spPr>
        <p:txBody>
          <a:bodyPr wrap="square" rtlCol="0">
            <a:spAutoFit/>
          </a:bodyPr>
          <a:lstStyle/>
          <a:p>
            <a:r>
              <a:rPr lang="en-US" sz="5800" b="1" dirty="0">
                <a:latin typeface="Times New Roman" panose="02020603050405020304" pitchFamily="18" charset="0"/>
                <a:cs typeface="Times New Roman" panose="02020603050405020304" pitchFamily="18" charset="0"/>
              </a:rPr>
              <a:t>Introduction</a:t>
            </a:r>
          </a:p>
        </p:txBody>
      </p:sp>
      <p:sp>
        <p:nvSpPr>
          <p:cNvPr id="3" name="Rectangle 2">
            <a:extLst>
              <a:ext uri="{FF2B5EF4-FFF2-40B4-BE49-F238E27FC236}">
                <a16:creationId xmlns:a16="http://schemas.microsoft.com/office/drawing/2014/main" id="{8DB06657-2486-A296-04C0-D6F6F579E1E1}"/>
              </a:ext>
            </a:extLst>
          </p:cNvPr>
          <p:cNvSpPr/>
          <p:nvPr/>
        </p:nvSpPr>
        <p:spPr>
          <a:xfrm>
            <a:off x="685800" y="1943100"/>
            <a:ext cx="17145000" cy="716851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2400" dirty="0">
                <a:latin typeface="Times New Roman" panose="02020603050405020304" pitchFamily="18" charset="0"/>
                <a:cs typeface="Times New Roman" panose="02020603050405020304" pitchFamily="18" charset="0"/>
              </a:rPr>
              <a:t>Cybersecurity has become one of the most critical challenges in today's digital landscape due to the increasing sophistication of cyber threats. Modern enterprise networks are continuously targeted by </a:t>
            </a:r>
            <a:r>
              <a:rPr lang="en-IN" sz="2400" b="1" dirty="0">
                <a:latin typeface="Times New Roman" panose="02020603050405020304" pitchFamily="18" charset="0"/>
                <a:cs typeface="Times New Roman" panose="02020603050405020304" pitchFamily="18" charset="0"/>
              </a:rPr>
              <a:t>Advanced Persistent Threats (APTs)</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zero-day exploits</a:t>
            </a:r>
            <a:r>
              <a:rPr lang="en-IN" sz="2400" dirty="0">
                <a:latin typeface="Times New Roman" panose="02020603050405020304" pitchFamily="18" charset="0"/>
                <a:cs typeface="Times New Roman" panose="02020603050405020304" pitchFamily="18" charset="0"/>
              </a:rPr>
              <a:t>, ransomware, and other evolving attack techniques that can evade traditional defence mechanisms. Conventional security solutions such as </a:t>
            </a:r>
            <a:r>
              <a:rPr lang="en-IN" sz="2400" b="1" dirty="0">
                <a:latin typeface="Times New Roman" panose="02020603050405020304" pitchFamily="18" charset="0"/>
                <a:cs typeface="Times New Roman" panose="02020603050405020304" pitchFamily="18" charset="0"/>
              </a:rPr>
              <a:t>Intrusion Detection Systems (IDS)</a:t>
            </a:r>
            <a:r>
              <a:rPr lang="en-IN" sz="2400" dirty="0">
                <a:latin typeface="Times New Roman" panose="02020603050405020304" pitchFamily="18" charset="0"/>
                <a:cs typeface="Times New Roman" panose="02020603050405020304" pitchFamily="18" charset="0"/>
              </a:rPr>
              <a:t> and </a:t>
            </a:r>
            <a:r>
              <a:rPr lang="en-IN" sz="2400" b="1" dirty="0">
                <a:latin typeface="Times New Roman" panose="02020603050405020304" pitchFamily="18" charset="0"/>
                <a:cs typeface="Times New Roman" panose="02020603050405020304" pitchFamily="18" charset="0"/>
              </a:rPr>
              <a:t>Security Information and Event Management (SIEM)</a:t>
            </a:r>
            <a:r>
              <a:rPr lang="en-IN" sz="2400" dirty="0">
                <a:latin typeface="Times New Roman" panose="02020603050405020304" pitchFamily="18" charset="0"/>
                <a:cs typeface="Times New Roman" panose="02020603050405020304" pitchFamily="18" charset="0"/>
              </a:rPr>
              <a:t> platforms primarily rely on signature-based detection and predefined rules, making them less effective against previously unseen or adaptive attacks.</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Although machine learning techniques have improved threat detection through anomaly detection and classification, they are generally designed for static prediction tasks and lack the capability to make continuous, adaptive decisions during an ongoing cyberattack. As a result, Security Operations Center (SOC) analysts still perform most threat hunting manually, leading to alert fatigue, increased Mean Time to Detect (MTTD), and delayed incident response.</a:t>
            </a:r>
          </a:p>
          <a:p>
            <a:pPr algn="just"/>
            <a:endParaRPr lang="en-IN"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969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3B84-253E-EA09-0C66-6F9257B12E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4A14D0-8824-6D6A-5041-2943875AF51C}"/>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US" dirty="0"/>
          </a:p>
        </p:txBody>
      </p:sp>
      <p:sp>
        <p:nvSpPr>
          <p:cNvPr id="5" name="TextBox 4">
            <a:extLst>
              <a:ext uri="{FF2B5EF4-FFF2-40B4-BE49-F238E27FC236}">
                <a16:creationId xmlns:a16="http://schemas.microsoft.com/office/drawing/2014/main" id="{1C12FE4B-BF29-2D15-B088-8D5419A24AD4}"/>
              </a:ext>
            </a:extLst>
          </p:cNvPr>
          <p:cNvSpPr txBox="1"/>
          <p:nvPr/>
        </p:nvSpPr>
        <p:spPr>
          <a:xfrm>
            <a:off x="5562600" y="647700"/>
            <a:ext cx="6400800" cy="984885"/>
          </a:xfrm>
          <a:prstGeom prst="rect">
            <a:avLst/>
          </a:prstGeom>
          <a:noFill/>
        </p:spPr>
        <p:txBody>
          <a:bodyPr wrap="square" rtlCol="0">
            <a:spAutoFit/>
          </a:bodyPr>
          <a:lstStyle/>
          <a:p>
            <a:r>
              <a:rPr lang="en-US" sz="5800" b="1" dirty="0">
                <a:latin typeface="Times New Roman" panose="02020603050405020304" pitchFamily="18" charset="0"/>
                <a:cs typeface="Times New Roman" panose="02020603050405020304" pitchFamily="18" charset="0"/>
              </a:rPr>
              <a:t>Problem Definition</a:t>
            </a:r>
          </a:p>
        </p:txBody>
      </p:sp>
      <p:sp>
        <p:nvSpPr>
          <p:cNvPr id="3" name="Rectangle 2">
            <a:extLst>
              <a:ext uri="{FF2B5EF4-FFF2-40B4-BE49-F238E27FC236}">
                <a16:creationId xmlns:a16="http://schemas.microsoft.com/office/drawing/2014/main" id="{B25260B5-DBE7-5AC5-47FA-3A5BAA6CADFB}"/>
              </a:ext>
            </a:extLst>
          </p:cNvPr>
          <p:cNvSpPr/>
          <p:nvPr/>
        </p:nvSpPr>
        <p:spPr>
          <a:xfrm>
            <a:off x="685800" y="1943101"/>
            <a:ext cx="17145000" cy="51816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2400" dirty="0">
                <a:latin typeface="Times New Roman" panose="02020603050405020304" pitchFamily="18" charset="0"/>
                <a:cs typeface="Times New Roman" panose="02020603050405020304" pitchFamily="18" charset="0"/>
              </a:rPr>
              <a:t>To address these challenges, this research work proposes an </a:t>
            </a:r>
            <a:r>
              <a:rPr lang="en-IN" sz="2400" b="1" dirty="0">
                <a:latin typeface="Times New Roman" panose="02020603050405020304" pitchFamily="18" charset="0"/>
                <a:cs typeface="Times New Roman" panose="02020603050405020304" pitchFamily="18" charset="0"/>
              </a:rPr>
              <a:t>Autonomous Cyber Threat Hunting Agent using Reinforcement Learning (RL)</a:t>
            </a:r>
            <a:r>
              <a:rPr lang="en-IN" sz="2400" dirty="0">
                <a:latin typeface="Times New Roman" panose="02020603050405020304" pitchFamily="18" charset="0"/>
                <a:cs typeface="Times New Roman" panose="02020603050405020304" pitchFamily="18" charset="0"/>
              </a:rPr>
              <a:t>. By learning through interaction with a simulated network environment, the RL agent can continuously observe network behaviour, identify suspicious activities, prioritize potential threats, and recommend or execute appropriate response actions. This approach aims to move beyond passive detection toward intelligent, adaptive, and autonomous cyber defence.</a:t>
            </a:r>
            <a:endParaRPr lang="en-IN" sz="24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0967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538316" y="60223"/>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5F9B5CB9-9014-64E2-4608-9EF0762D6FFD}"/>
              </a:ext>
            </a:extLst>
          </p:cNvPr>
          <p:cNvGraphicFramePr>
            <a:graphicFrameLocks noGrp="1"/>
          </p:cNvGraphicFramePr>
          <p:nvPr>
            <p:extLst>
              <p:ext uri="{D42A27DB-BD31-4B8C-83A1-F6EECF244321}">
                <p14:modId xmlns:p14="http://schemas.microsoft.com/office/powerpoint/2010/main" val="1945245901"/>
              </p:ext>
            </p:extLst>
          </p:nvPr>
        </p:nvGraphicFramePr>
        <p:xfrm>
          <a:off x="0" y="1565456"/>
          <a:ext cx="18288000" cy="8679289"/>
        </p:xfrm>
        <a:graphic>
          <a:graphicData uri="http://schemas.openxmlformats.org/drawingml/2006/table">
            <a:tbl>
              <a:tblPr firstRow="1" firstCol="1" bandRow="1">
                <a:tableStyleId>{9D7B26C5-4107-4FEC-AEDC-1716B250A1EF}</a:tableStyleId>
              </a:tblPr>
              <a:tblGrid>
                <a:gridCol w="796652">
                  <a:extLst>
                    <a:ext uri="{9D8B030D-6E8A-4147-A177-3AD203B41FA5}">
                      <a16:colId xmlns:a16="http://schemas.microsoft.com/office/drawing/2014/main" val="20000"/>
                    </a:ext>
                  </a:extLst>
                </a:gridCol>
                <a:gridCol w="1319719">
                  <a:extLst>
                    <a:ext uri="{9D8B030D-6E8A-4147-A177-3AD203B41FA5}">
                      <a16:colId xmlns:a16="http://schemas.microsoft.com/office/drawing/2014/main" val="20002"/>
                    </a:ext>
                  </a:extLst>
                </a:gridCol>
                <a:gridCol w="2721049">
                  <a:extLst>
                    <a:ext uri="{9D8B030D-6E8A-4147-A177-3AD203B41FA5}">
                      <a16:colId xmlns:a16="http://schemas.microsoft.com/office/drawing/2014/main" val="20003"/>
                    </a:ext>
                  </a:extLst>
                </a:gridCol>
                <a:gridCol w="4256458">
                  <a:extLst>
                    <a:ext uri="{9D8B030D-6E8A-4147-A177-3AD203B41FA5}">
                      <a16:colId xmlns:a16="http://schemas.microsoft.com/office/drawing/2014/main" val="992816711"/>
                    </a:ext>
                  </a:extLst>
                </a:gridCol>
                <a:gridCol w="4597061">
                  <a:extLst>
                    <a:ext uri="{9D8B030D-6E8A-4147-A177-3AD203B41FA5}">
                      <a16:colId xmlns:a16="http://schemas.microsoft.com/office/drawing/2014/main" val="1495101879"/>
                    </a:ext>
                  </a:extLst>
                </a:gridCol>
                <a:gridCol w="4597061">
                  <a:extLst>
                    <a:ext uri="{9D8B030D-6E8A-4147-A177-3AD203B41FA5}">
                      <a16:colId xmlns:a16="http://schemas.microsoft.com/office/drawing/2014/main" val="20004"/>
                    </a:ext>
                  </a:extLst>
                </a:gridCol>
              </a:tblGrid>
              <a:tr h="1021781">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Y</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ear</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44576">
                <a:tc>
                  <a:txBody>
                    <a:bodyPr/>
                    <a:lstStyle/>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01</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2026</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Smart Cyber Threat Intelligence System for Autonomous Threat Aggregation and Reporting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Ingests threat data, normalizes it, analyzes patterns, correlates incidents, and generates reports/alerts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End-to-end autonomy for aggregation + analysis + reporting, not just detection</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Depends on data quality, may face false positives, integration complexity, privacy issues.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1844576">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2</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2026</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AI-Driven Cloud Security: Adaptive Threat Detection and Autonomous Defense Mechanisms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Collects cloud telemetry, extracts features, applies supervised/unsupervised ML, and triggers automated defenses link.springer+1.</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Closed-loop adaptive detection + autonomous response in a cloud-native setting link.springer+1.</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Data quality dependence, adversarial ML risks, false positives/negatives, limited interpretability.</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r h="1503374">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2026</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Agentic AI-Driven Machine Learning Framework for Proactive Cyber-Attack Detection and Early Threat Warning Systems</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Deploys specialized AI agents that collect telemetry, run ML-based detection models, correlate indicators, and generate early threat alerts and risk scores.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Agentic architecture where multiple coordinated agents handle data collection, model inference, and alerting to enable proactive, early-warning capability.</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Requires high-quality, timely data; risk of false alarms; complexity in agent orchestration; potential interpretability issues.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603512273"/>
                  </a:ext>
                </a:extLst>
              </a:tr>
              <a:tr h="2091494">
                <a:tc>
                  <a:txBody>
                    <a:bodyPr/>
                    <a:lstStyle/>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04</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AGLHunter: Automated Threat Hunting Using In-Context Learning-Enhanced LLM</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LLMs process CTI -&gt; Build provenance graphs -&gt; Extract suspicious subgraphs -&gt; Graph matching.</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Eradicates manual graph creation; extremely fast (saves 170+ seconds).</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Reliant on offline analysis rather than real-time streaming; limited attack scope.</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4049649089"/>
                  </a:ext>
                </a:extLst>
              </a:tr>
            </a:tbl>
          </a:graphicData>
        </a:graphic>
      </p:graphicFrame>
    </p:spTree>
    <p:extLst>
      <p:ext uri="{BB962C8B-B14F-4D97-AF65-F5344CB8AC3E}">
        <p14:creationId xmlns:p14="http://schemas.microsoft.com/office/powerpoint/2010/main" val="4069023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5DDB2-2F09-0E28-C285-A38AD2B6C5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BF74A-3173-A7D2-5F2E-23E867E5FA89}"/>
              </a:ext>
            </a:extLst>
          </p:cNvPr>
          <p:cNvSpPr>
            <a:spLocks noGrp="1"/>
          </p:cNvSpPr>
          <p:nvPr>
            <p:ph type="ctrTitle" idx="4294967295"/>
          </p:nvPr>
        </p:nvSpPr>
        <p:spPr>
          <a:xfrm>
            <a:off x="560438" y="38100"/>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CF6D51F1-DC8B-B2B9-C656-BF3D14067821}"/>
              </a:ext>
            </a:extLst>
          </p:cNvPr>
          <p:cNvGraphicFramePr>
            <a:graphicFrameLocks noGrp="1"/>
          </p:cNvGraphicFramePr>
          <p:nvPr>
            <p:extLst>
              <p:ext uri="{D42A27DB-BD31-4B8C-83A1-F6EECF244321}">
                <p14:modId xmlns:p14="http://schemas.microsoft.com/office/powerpoint/2010/main" val="82268871"/>
              </p:ext>
            </p:extLst>
          </p:nvPr>
        </p:nvGraphicFramePr>
        <p:xfrm>
          <a:off x="22122" y="1409699"/>
          <a:ext cx="18288000" cy="8839201"/>
        </p:xfrm>
        <a:graphic>
          <a:graphicData uri="http://schemas.openxmlformats.org/drawingml/2006/table">
            <a:tbl>
              <a:tblPr firstRow="1" firstCol="1" bandRow="1">
                <a:tableStyleId>{9D7B26C5-4107-4FEC-AEDC-1716B250A1EF}</a:tableStyleId>
              </a:tblPr>
              <a:tblGrid>
                <a:gridCol w="796652">
                  <a:extLst>
                    <a:ext uri="{9D8B030D-6E8A-4147-A177-3AD203B41FA5}">
                      <a16:colId xmlns:a16="http://schemas.microsoft.com/office/drawing/2014/main" val="20000"/>
                    </a:ext>
                  </a:extLst>
                </a:gridCol>
                <a:gridCol w="1319719">
                  <a:extLst>
                    <a:ext uri="{9D8B030D-6E8A-4147-A177-3AD203B41FA5}">
                      <a16:colId xmlns:a16="http://schemas.microsoft.com/office/drawing/2014/main" val="20002"/>
                    </a:ext>
                  </a:extLst>
                </a:gridCol>
                <a:gridCol w="2721049">
                  <a:extLst>
                    <a:ext uri="{9D8B030D-6E8A-4147-A177-3AD203B41FA5}">
                      <a16:colId xmlns:a16="http://schemas.microsoft.com/office/drawing/2014/main" val="20003"/>
                    </a:ext>
                  </a:extLst>
                </a:gridCol>
                <a:gridCol w="4256458">
                  <a:extLst>
                    <a:ext uri="{9D8B030D-6E8A-4147-A177-3AD203B41FA5}">
                      <a16:colId xmlns:a16="http://schemas.microsoft.com/office/drawing/2014/main" val="992816711"/>
                    </a:ext>
                  </a:extLst>
                </a:gridCol>
                <a:gridCol w="4597061">
                  <a:extLst>
                    <a:ext uri="{9D8B030D-6E8A-4147-A177-3AD203B41FA5}">
                      <a16:colId xmlns:a16="http://schemas.microsoft.com/office/drawing/2014/main" val="1495101879"/>
                    </a:ext>
                  </a:extLst>
                </a:gridCol>
                <a:gridCol w="4597061">
                  <a:extLst>
                    <a:ext uri="{9D8B030D-6E8A-4147-A177-3AD203B41FA5}">
                      <a16:colId xmlns:a16="http://schemas.microsoft.com/office/drawing/2014/main" val="20004"/>
                    </a:ext>
                  </a:extLst>
                </a:gridCol>
              </a:tblGrid>
              <a:tr h="1041380">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Year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925829">
                <a:tc>
                  <a:txBody>
                    <a:bodyPr/>
                    <a:lstStyle/>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05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Agentic AI for Autonomous Cyber Threat Hunting and Adaptive Defense in Dynamic Security Environments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Autonomous AI agents that perceive, reason, and act against threats.</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Agents ingest data -&gt; Reason contextually -&gt; Autonomously hunt -&gt; Execute adaptive </a:t>
                      </a:r>
                      <a:r>
                        <a:rPr lang="en-IN" sz="1800" b="0" i="0" u="none" strike="noStrike" dirty="0" err="1">
                          <a:solidFill>
                            <a:srgbClr val="000000"/>
                          </a:solidFill>
                          <a:effectLst/>
                          <a:latin typeface="Times New Roman" panose="02020603050405020304" pitchFamily="18" charset="0"/>
                          <a:cs typeface="Times New Roman" panose="02020603050405020304" pitchFamily="18" charset="0"/>
                        </a:rPr>
                        <a:t>defenses</a:t>
                      </a:r>
                      <a:r>
                        <a:rPr lang="en-IN"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Lacks transparency and explainability; requires better human-AI trust interfaces.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1925829">
                <a:tc>
                  <a:txBody>
                    <a:bodyPr/>
                    <a:lstStyle/>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06</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Multi-Agent Model-Based Deep Reinforcement Learning: Testing the Method in Grid-World Environments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The paper builds a multi-agent environment model and tests the method through grid-world simulations to observe agent behavior under different interaction conditions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Its key feature is the combination of multi-agent, model-based DRL, and grid-world testing, which makes it suitable for studying cooperation and conflict in a controlled setting</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Future work can expand the method to richer environments, more agents, and more realistic social-dilemma tasks to test scalability and robustness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r h="1622468">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7</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Automated LLM Deployment and Evaluation: A Cloud-Native Approach Using LLM-as-a-Judge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Uses a lightweight evaluation framework where an independent LLM acts as a judge to compare models against predefined criteria</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Combines automated deployment with LLM-as-a-Judge evaluation, which helps make benchmarking faster and more consistent</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Ongoing directions include cheaper cloud-resource selection, broader prompt sets, more metrics, and cross-model validation for stronger benchmarking</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603512273"/>
                  </a:ext>
                </a:extLst>
              </a:tr>
              <a:tr h="2323695">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8</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L="0" marR="28575" lvl="0" indent="0" algn="l" defTabSz="914400" rtl="0" eaLnBrk="1" fontAlgn="auto" latinLnBrk="0" hangingPunct="1">
                        <a:lnSpc>
                          <a:spcPct val="107000"/>
                        </a:lnSpc>
                        <a:spcBef>
                          <a:spcPts val="0"/>
                        </a:spcBef>
                        <a:spcAft>
                          <a:spcPts val="800"/>
                        </a:spcAft>
                        <a:buClrTx/>
                        <a:buSzTx/>
                        <a:buFontTx/>
                        <a:buNone/>
                        <a:tabLst/>
                        <a:defRPr/>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AI-Native LLM Security: Threats, defenses, and best practices for building safe and trustworthy AI</a:t>
                      </a:r>
                      <a:endParaRPr lang="en-IN" sz="1800" b="1" dirty="0">
                        <a:effectLst/>
                        <a:latin typeface="Times New Roman" panose="02020603050405020304" pitchFamily="18" charset="0"/>
                        <a:cs typeface="Times New Roman" panose="02020603050405020304" pitchFamily="18" charset="0"/>
                      </a:endParaRPr>
                    </a:p>
                    <a:p>
                      <a:pPr marR="28575" algn="l">
                        <a:lnSpc>
                          <a:spcPct val="107000"/>
                        </a:lnSpc>
                        <a:spcAft>
                          <a:spcPts val="800"/>
                        </a:spcAft>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It uses a best-practices and secure-by-design approach, combining threat modeling, MLSecOps, and guidance for integrating security into AI development lifecycles .</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Its standout feature is the practical coverage of CI/CD, MLOps, open-access LLMs, and real-world security controls, rather than only theoretical discussion .</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Future directions include stronger defenses against evolving adversarial attacks, better governance, improved incident response, and more secure deployment patterns for production LLM systems .</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4049649089"/>
                  </a:ext>
                </a:extLst>
              </a:tr>
            </a:tbl>
          </a:graphicData>
        </a:graphic>
      </p:graphicFrame>
    </p:spTree>
    <p:extLst>
      <p:ext uri="{BB962C8B-B14F-4D97-AF65-F5344CB8AC3E}">
        <p14:creationId xmlns:p14="http://schemas.microsoft.com/office/powerpoint/2010/main" val="2533548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C1EB-4FF6-E892-4393-9255E16236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F4482-0472-6182-1A2A-49E1EAB324BB}"/>
              </a:ext>
            </a:extLst>
          </p:cNvPr>
          <p:cNvSpPr>
            <a:spLocks noGrp="1"/>
          </p:cNvSpPr>
          <p:nvPr>
            <p:ph type="ctrTitle" idx="4294967295"/>
          </p:nvPr>
        </p:nvSpPr>
        <p:spPr>
          <a:xfrm>
            <a:off x="560438" y="152402"/>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C36C9B1-C3FE-4F35-0D56-293FBCA640CA}"/>
              </a:ext>
            </a:extLst>
          </p:cNvPr>
          <p:cNvGraphicFramePr>
            <a:graphicFrameLocks noGrp="1"/>
          </p:cNvGraphicFramePr>
          <p:nvPr>
            <p:extLst>
              <p:ext uri="{D42A27DB-BD31-4B8C-83A1-F6EECF244321}">
                <p14:modId xmlns:p14="http://schemas.microsoft.com/office/powerpoint/2010/main" val="326394073"/>
              </p:ext>
            </p:extLst>
          </p:nvPr>
        </p:nvGraphicFramePr>
        <p:xfrm>
          <a:off x="0" y="1409701"/>
          <a:ext cx="18347268" cy="8534399"/>
        </p:xfrm>
        <a:graphic>
          <a:graphicData uri="http://schemas.openxmlformats.org/drawingml/2006/table">
            <a:tbl>
              <a:tblPr firstRow="1" firstCol="1" bandRow="1">
                <a:tableStyleId>{9D7B26C5-4107-4FEC-AEDC-1716B250A1EF}</a:tableStyleId>
              </a:tblPr>
              <a:tblGrid>
                <a:gridCol w="861115">
                  <a:extLst>
                    <a:ext uri="{9D8B030D-6E8A-4147-A177-3AD203B41FA5}">
                      <a16:colId xmlns:a16="http://schemas.microsoft.com/office/drawing/2014/main" val="20000"/>
                    </a:ext>
                  </a:extLst>
                </a:gridCol>
                <a:gridCol w="1328322">
                  <a:extLst>
                    <a:ext uri="{9D8B030D-6E8A-4147-A177-3AD203B41FA5}">
                      <a16:colId xmlns:a16="http://schemas.microsoft.com/office/drawing/2014/main" val="20002"/>
                    </a:ext>
                  </a:extLst>
                </a:gridCol>
                <a:gridCol w="2738788">
                  <a:extLst>
                    <a:ext uri="{9D8B030D-6E8A-4147-A177-3AD203B41FA5}">
                      <a16:colId xmlns:a16="http://schemas.microsoft.com/office/drawing/2014/main" val="20003"/>
                    </a:ext>
                  </a:extLst>
                </a:gridCol>
                <a:gridCol w="4284206">
                  <a:extLst>
                    <a:ext uri="{9D8B030D-6E8A-4147-A177-3AD203B41FA5}">
                      <a16:colId xmlns:a16="http://schemas.microsoft.com/office/drawing/2014/main" val="992816711"/>
                    </a:ext>
                  </a:extLst>
                </a:gridCol>
                <a:gridCol w="4627030">
                  <a:extLst>
                    <a:ext uri="{9D8B030D-6E8A-4147-A177-3AD203B41FA5}">
                      <a16:colId xmlns:a16="http://schemas.microsoft.com/office/drawing/2014/main" val="1495101879"/>
                    </a:ext>
                  </a:extLst>
                </a:gridCol>
                <a:gridCol w="4507807">
                  <a:extLst>
                    <a:ext uri="{9D8B030D-6E8A-4147-A177-3AD203B41FA5}">
                      <a16:colId xmlns:a16="http://schemas.microsoft.com/office/drawing/2014/main" val="673159505"/>
                    </a:ext>
                  </a:extLst>
                </a:gridCol>
              </a:tblGrid>
              <a:tr h="1071477">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Year</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697977">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0</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9</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Self-Supervised Learning: The Core of Next-Gen Machine Learning and a Paradigm Shift in AI</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The method typically builds a pretext task, such as masking, prediction, reconstruction, or contrastive matching, and then fine-tunes the learned representation on downstream tasks</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Its key value is showing why self-supervised learning is a major shift in AI: it reduces reliance on labeled data and supports general-purpose representation learning</a:t>
                      </a:r>
                      <a:endParaRPr lang="en-IN" sz="180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Future work will likely focus on stronger pretext tasks, better transfer learning, multimodal SSL, and more efficient training for large-scale foundation models </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2293617">
                <a:tc>
                  <a:txBody>
                    <a:bodyPr/>
                    <a:lstStyle/>
                    <a:p>
                      <a:pPr algn="just">
                        <a:lnSpc>
                          <a:spcPct val="107000"/>
                        </a:lnSpc>
                        <a:spcAft>
                          <a:spcPts val="800"/>
                        </a:spcAft>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10</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Model-based Multi-agent Mean-field Reinforcement Learning Based on Conditional Generation Adversarial Network Algorithm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Uses a conditional generation adversarial network to improve the environmental dynamics model, and compares the method against the M3-UCRL baseline</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The main novelty is combining mean-field RL with a CGAN-based dynamics model, which helps predict the next state more accurately</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Aft>
                          <a:spcPts val="24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Future work can test the method on larger mean-field settings, more complex dynamics, and safer or more robust policy-learning variants</a:t>
                      </a:r>
                      <a:endParaRPr lang="en-IN" sz="1800" dirty="0">
                        <a:effectLst/>
                        <a:latin typeface="Times New Roman" panose="02020603050405020304" pitchFamily="18" charset="0"/>
                        <a:cs typeface="Times New Roman" panose="02020603050405020304" pitchFamily="18" charset="0"/>
                      </a:endParaRPr>
                    </a:p>
                  </a:txBody>
                  <a:tcPr marL="114300" marR="1143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r h="1546058">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1</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latin typeface="Times New Roman" panose="02020603050405020304" pitchFamily="18" charset="0"/>
                          <a:cs typeface="Times New Roman" panose="02020603050405020304" pitchFamily="18" charset="0"/>
                        </a:rPr>
                        <a:t>Multi-Agent AI for Distributed Cyber Threat Intelligence Sharing</a:t>
                      </a:r>
                      <a:endParaRPr lang="en-IN" sz="1800" dirty="0">
                        <a:latin typeface="Times New Roman" panose="02020603050405020304" pitchFamily="18" charset="0"/>
                        <a:cs typeface="Times New Roman" panose="02020603050405020304" pitchFamily="18" charset="0"/>
                      </a:endParaRPr>
                    </a:p>
                    <a:p>
                      <a:pPr algn="l">
                        <a:lnSpc>
                          <a:spcPct val="100000"/>
                        </a:lnSpc>
                        <a:buNone/>
                      </a:pP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Distributed agents perform local detection, decision-making, and cross-domain sharing</a:t>
                      </a:r>
                    </a:p>
                    <a:p>
                      <a:pPr algn="l">
                        <a:lnSpc>
                          <a:spcPct val="100000"/>
                        </a:lnSpc>
                        <a:buNone/>
                      </a:pP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Multi-agent collaboration for CTI sharing, with autonomous real-time coordination</a:t>
                      </a:r>
                    </a:p>
                    <a:p>
                      <a:pPr algn="l">
                        <a:lnSpc>
                          <a:spcPct val="100000"/>
                        </a:lnSpc>
                        <a:buNone/>
                      </a:pP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Trust/privacy issues, communication overhead, false info propagation, scaling challenges.</a:t>
                      </a:r>
                    </a:p>
                    <a:p>
                      <a:pPr algn="l">
                        <a:lnSpc>
                          <a:spcPct val="100000"/>
                        </a:lnSpc>
                        <a:buNone/>
                      </a:pP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603512273"/>
                  </a:ext>
                </a:extLst>
              </a:tr>
              <a:tr h="1925270">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2</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0000"/>
                        </a:lnSpc>
                        <a:spcAft>
                          <a:spcPts val="800"/>
                        </a:spcAft>
                      </a:pPr>
                      <a:r>
                        <a:rPr lang="en-IN" sz="1800" b="1" dirty="0">
                          <a:latin typeface="Times New Roman" panose="02020603050405020304" pitchFamily="18" charset="0"/>
                          <a:cs typeface="Times New Roman" panose="02020603050405020304" pitchFamily="18" charset="0"/>
                        </a:rPr>
                        <a:t>AI-Powered Cyber Security: Neural Networks for Threat Detection and Prevention</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Trains neural networks on labeled attack/benign traffic data, uses them for real-time classification and anomaly detection, and triggers preventive actions.</a:t>
                      </a:r>
                    </a:p>
                    <a:p>
                      <a:pPr algn="l">
                        <a:lnSpc>
                          <a:spcPct val="100000"/>
                        </a:lnSpc>
                        <a:buNone/>
                      </a:pP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Uses neural networks as the core detection engine for both known and unknown threats, adapting to evolving attack patterns.</a:t>
                      </a:r>
                    </a:p>
                    <a:p>
                      <a:pPr algn="l">
                        <a:lnSpc>
                          <a:spcPct val="100000"/>
                        </a:lnSpc>
                        <a:buNone/>
                      </a:pP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Needs large labeled datasets, sensitive to adversarial inputs, potential high false positives, and limited interpretability.</a:t>
                      </a:r>
                    </a:p>
                    <a:p>
                      <a:pPr algn="l">
                        <a:lnSpc>
                          <a:spcPct val="100000"/>
                        </a:lnSpc>
                        <a:buNone/>
                      </a:pPr>
                      <a:endParaRPr lang="en-IN"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4049649089"/>
                  </a:ext>
                </a:extLst>
              </a:tr>
            </a:tbl>
          </a:graphicData>
        </a:graphic>
      </p:graphicFrame>
    </p:spTree>
    <p:extLst>
      <p:ext uri="{BB962C8B-B14F-4D97-AF65-F5344CB8AC3E}">
        <p14:creationId xmlns:p14="http://schemas.microsoft.com/office/powerpoint/2010/main" val="60418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DAD32-5371-40CB-7982-1B45FA62E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53E8E-2D44-3F5B-D411-DE3EAFA68926}"/>
              </a:ext>
            </a:extLst>
          </p:cNvPr>
          <p:cNvSpPr>
            <a:spLocks noGrp="1"/>
          </p:cNvSpPr>
          <p:nvPr>
            <p:ph type="ctrTitle" idx="4294967295"/>
          </p:nvPr>
        </p:nvSpPr>
        <p:spPr>
          <a:xfrm>
            <a:off x="560438" y="152402"/>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F88F897-DA9C-A3B4-02CD-1638AA8FDD79}"/>
              </a:ext>
            </a:extLst>
          </p:cNvPr>
          <p:cNvGraphicFramePr>
            <a:graphicFrameLocks noGrp="1"/>
          </p:cNvGraphicFramePr>
          <p:nvPr>
            <p:extLst>
              <p:ext uri="{D42A27DB-BD31-4B8C-83A1-F6EECF244321}">
                <p14:modId xmlns:p14="http://schemas.microsoft.com/office/powerpoint/2010/main" val="4050528797"/>
              </p:ext>
            </p:extLst>
          </p:nvPr>
        </p:nvGraphicFramePr>
        <p:xfrm>
          <a:off x="13063" y="1409700"/>
          <a:ext cx="18287999" cy="8877300"/>
        </p:xfrm>
        <a:graphic>
          <a:graphicData uri="http://schemas.openxmlformats.org/drawingml/2006/table">
            <a:tbl>
              <a:tblPr firstRow="1" firstCol="1" bandRow="1">
                <a:tableStyleId>{9D7B26C5-4107-4FEC-AEDC-1716B250A1EF}</a:tableStyleId>
              </a:tblPr>
              <a:tblGrid>
                <a:gridCol w="801846">
                  <a:extLst>
                    <a:ext uri="{9D8B030D-6E8A-4147-A177-3AD203B41FA5}">
                      <a16:colId xmlns:a16="http://schemas.microsoft.com/office/drawing/2014/main" val="20000"/>
                    </a:ext>
                  </a:extLst>
                </a:gridCol>
                <a:gridCol w="1328322">
                  <a:extLst>
                    <a:ext uri="{9D8B030D-6E8A-4147-A177-3AD203B41FA5}">
                      <a16:colId xmlns:a16="http://schemas.microsoft.com/office/drawing/2014/main" val="20002"/>
                    </a:ext>
                  </a:extLst>
                </a:gridCol>
                <a:gridCol w="3245971">
                  <a:extLst>
                    <a:ext uri="{9D8B030D-6E8A-4147-A177-3AD203B41FA5}">
                      <a16:colId xmlns:a16="http://schemas.microsoft.com/office/drawing/2014/main" val="20003"/>
                    </a:ext>
                  </a:extLst>
                </a:gridCol>
                <a:gridCol w="3777023">
                  <a:extLst>
                    <a:ext uri="{9D8B030D-6E8A-4147-A177-3AD203B41FA5}">
                      <a16:colId xmlns:a16="http://schemas.microsoft.com/office/drawing/2014/main" val="992816711"/>
                    </a:ext>
                  </a:extLst>
                </a:gridCol>
                <a:gridCol w="4627030">
                  <a:extLst>
                    <a:ext uri="{9D8B030D-6E8A-4147-A177-3AD203B41FA5}">
                      <a16:colId xmlns:a16="http://schemas.microsoft.com/office/drawing/2014/main" val="1495101879"/>
                    </a:ext>
                  </a:extLst>
                </a:gridCol>
                <a:gridCol w="4507807">
                  <a:extLst>
                    <a:ext uri="{9D8B030D-6E8A-4147-A177-3AD203B41FA5}">
                      <a16:colId xmlns:a16="http://schemas.microsoft.com/office/drawing/2014/main" val="673159505"/>
                    </a:ext>
                  </a:extLst>
                </a:gridCol>
              </a:tblGrid>
              <a:tr h="1474231">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Year</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150177">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dirty="0">
                          <a:latin typeface="Times New Roman" panose="02020603050405020304" pitchFamily="18" charset="0"/>
                          <a:cs typeface="Times New Roman" panose="02020603050405020304" pitchFamily="18" charset="0"/>
                        </a:rPr>
                        <a:t>AI Agents for Cloud Reliability: Autonomous Threat Detection and Mitigation Aligned with Site Reliability Engineering Principles</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Uses AI agents to monitor cloud metrics/logs, detect anomalies and security incidents, and autonomously execute remediation aligned with SRE policies and SLIs/SLOs.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Combines AI-driven threat detection with SRE principles, so security actions are optimized for reliability and minimal service disruption.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Complexity in aligning security and SRE objectives, risk of over-aggressive automation affecting uptime, dependence on accurate telemetry and well-defined SRE policies.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1677679">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14</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buNone/>
                      </a:pPr>
                      <a:r>
                        <a:rPr lang="en-IN" sz="1800" b="1" dirty="0">
                          <a:latin typeface="Times New Roman" panose="02020603050405020304" pitchFamily="18" charset="0"/>
                          <a:cs typeface="Times New Roman" panose="02020603050405020304" pitchFamily="18" charset="0"/>
                        </a:rPr>
                        <a:t>Agentic AI for Autonomous Cyber Threat Hunting and Adaptive Defense in Dynamic Security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Uses machine learning, deep reinforcement learning, and AI analytics to detect threats and support adaptive defense.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Goal-directed autonomous threat hunting with minimal human intervention; reported strong detection and response performance in summaries.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Needs high-quality telemetry and labeled data; may face false positives, explainability issues, and integration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r h="1495154">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2024</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0000"/>
                        </a:lnSpc>
                        <a:spcAft>
                          <a:spcPts val="800"/>
                        </a:spcAft>
                      </a:pPr>
                      <a:r>
                        <a:rPr lang="en-IN" sz="1800" b="1" dirty="0">
                          <a:latin typeface="Times New Roman" panose="02020603050405020304" pitchFamily="18" charset="0"/>
                          <a:cs typeface="Times New Roman" panose="02020603050405020304" pitchFamily="18" charset="0"/>
                        </a:rPr>
                        <a:t>Onto Hunt – A Semantic Reasoning Approach to Cyber Threat Hunting with Indicators of Behaviour</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Maps events to IoBs -&gt; Uses ontology and semantic reasoning to infer attack chains.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Reconstructs full attack stories; highly contextual, human-readable alerts.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Lacks real-time monitoring; requires manual ontology updates.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603512273"/>
                  </a:ext>
                </a:extLst>
              </a:tr>
              <a:tr h="2080059">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6</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2024</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0000"/>
                        </a:lnSpc>
                        <a:spcAft>
                          <a:spcPts val="800"/>
                        </a:spcAft>
                      </a:pPr>
                      <a:r>
                        <a:rPr lang="en-IN" sz="1800" b="1" dirty="0">
                          <a:latin typeface="Times New Roman" panose="02020603050405020304" pitchFamily="18" charset="0"/>
                          <a:cs typeface="Times New Roman" panose="02020603050405020304" pitchFamily="18" charset="0"/>
                        </a:rPr>
                        <a:t>Graph Watch: A Novel Threat Hunting Approach for APT Activities based on Anomaly Detection</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Maps IT/OT telemetry into graphs -&gt; Learns baseline -&gt; Detects structural deviations.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Designed for Cyber-Physical Systems; visual graph exploration for analysts.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Lacks real-time streaming analysis and automated incident response.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4049649089"/>
                  </a:ext>
                </a:extLst>
              </a:tr>
            </a:tbl>
          </a:graphicData>
        </a:graphic>
      </p:graphicFrame>
    </p:spTree>
    <p:extLst>
      <p:ext uri="{BB962C8B-B14F-4D97-AF65-F5344CB8AC3E}">
        <p14:creationId xmlns:p14="http://schemas.microsoft.com/office/powerpoint/2010/main" val="2657576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51BB9-803A-6F8A-EFAF-5F9CFE545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8B619-6365-1E09-45FC-67E7C9F31C83}"/>
              </a:ext>
            </a:extLst>
          </p:cNvPr>
          <p:cNvSpPr>
            <a:spLocks noGrp="1"/>
          </p:cNvSpPr>
          <p:nvPr>
            <p:ph type="ctrTitle" idx="4294967295"/>
          </p:nvPr>
        </p:nvSpPr>
        <p:spPr>
          <a:xfrm>
            <a:off x="560438" y="152402"/>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FB2D2A0-FE17-0114-6FBC-6C15E092EA77}"/>
              </a:ext>
            </a:extLst>
          </p:cNvPr>
          <p:cNvGraphicFramePr>
            <a:graphicFrameLocks noGrp="1"/>
          </p:cNvGraphicFramePr>
          <p:nvPr>
            <p:extLst>
              <p:ext uri="{D42A27DB-BD31-4B8C-83A1-F6EECF244321}">
                <p14:modId xmlns:p14="http://schemas.microsoft.com/office/powerpoint/2010/main" val="3484707109"/>
              </p:ext>
            </p:extLst>
          </p:nvPr>
        </p:nvGraphicFramePr>
        <p:xfrm>
          <a:off x="0" y="1485900"/>
          <a:ext cx="18288000" cy="8801099"/>
        </p:xfrm>
        <a:graphic>
          <a:graphicData uri="http://schemas.openxmlformats.org/drawingml/2006/table">
            <a:tbl>
              <a:tblPr firstRow="1" firstCol="1" bandRow="1">
                <a:tableStyleId>{9D7B26C5-4107-4FEC-AEDC-1716B250A1EF}</a:tableStyleId>
              </a:tblPr>
              <a:tblGrid>
                <a:gridCol w="801846">
                  <a:extLst>
                    <a:ext uri="{9D8B030D-6E8A-4147-A177-3AD203B41FA5}">
                      <a16:colId xmlns:a16="http://schemas.microsoft.com/office/drawing/2014/main" val="20000"/>
                    </a:ext>
                  </a:extLst>
                </a:gridCol>
                <a:gridCol w="1328322">
                  <a:extLst>
                    <a:ext uri="{9D8B030D-6E8A-4147-A177-3AD203B41FA5}">
                      <a16:colId xmlns:a16="http://schemas.microsoft.com/office/drawing/2014/main" val="20002"/>
                    </a:ext>
                  </a:extLst>
                </a:gridCol>
                <a:gridCol w="3245972">
                  <a:extLst>
                    <a:ext uri="{9D8B030D-6E8A-4147-A177-3AD203B41FA5}">
                      <a16:colId xmlns:a16="http://schemas.microsoft.com/office/drawing/2014/main" val="20003"/>
                    </a:ext>
                  </a:extLst>
                </a:gridCol>
                <a:gridCol w="3777023">
                  <a:extLst>
                    <a:ext uri="{9D8B030D-6E8A-4147-A177-3AD203B41FA5}">
                      <a16:colId xmlns:a16="http://schemas.microsoft.com/office/drawing/2014/main" val="992816711"/>
                    </a:ext>
                  </a:extLst>
                </a:gridCol>
                <a:gridCol w="4627030">
                  <a:extLst>
                    <a:ext uri="{9D8B030D-6E8A-4147-A177-3AD203B41FA5}">
                      <a16:colId xmlns:a16="http://schemas.microsoft.com/office/drawing/2014/main" val="1495101879"/>
                    </a:ext>
                  </a:extLst>
                </a:gridCol>
                <a:gridCol w="4507807">
                  <a:extLst>
                    <a:ext uri="{9D8B030D-6E8A-4147-A177-3AD203B41FA5}">
                      <a16:colId xmlns:a16="http://schemas.microsoft.com/office/drawing/2014/main" val="673159505"/>
                    </a:ext>
                  </a:extLst>
                </a:gridCol>
              </a:tblGrid>
              <a:tr h="1247081">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Year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363133">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7</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2024</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7000"/>
                        </a:lnSpc>
                        <a:spcAft>
                          <a:spcPts val="800"/>
                        </a:spcAft>
                      </a:pPr>
                      <a:r>
                        <a:rPr lang="en-IN" sz="1800" b="1" dirty="0">
                          <a:latin typeface="Times New Roman" panose="02020603050405020304" pitchFamily="18" charset="0"/>
                          <a:cs typeface="Times New Roman" panose="02020603050405020304" pitchFamily="18" charset="0"/>
                        </a:rPr>
                        <a:t>Countering Autonomous Cyber Threats</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indent="0" algn="l" fontAlgn="base" latinLnBrk="0">
                        <a:buNone/>
                      </a:pPr>
                      <a:r>
                        <a:rPr lang="en-IN" sz="1800">
                          <a:effectLst/>
                          <a:latin typeface="Times New Roman" panose="02020603050405020304" pitchFamily="18" charset="0"/>
                          <a:cs typeface="Times New Roman" panose="02020603050405020304" pitchFamily="18" charset="0"/>
                        </a:rPr>
                        <a:t>Tests several downloadable and proprietary models in a controlled cyber range to see whether they can perform simple attacks against known vulnerabilities; also evaluates defensive prompt injection.</a:t>
                      </a: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indent="0" algn="l" fontAlgn="base" latinLnBrk="0">
                        <a:buNone/>
                      </a:pPr>
                      <a:r>
                        <a:rPr lang="en-IN" sz="1800" dirty="0">
                          <a:solidFill>
                            <a:schemeClr val="tx1"/>
                          </a:solidFill>
                          <a:effectLst/>
                          <a:latin typeface="Times New Roman" panose="02020603050405020304" pitchFamily="18" charset="0"/>
                          <a:cs typeface="Times New Roman" panose="02020603050405020304" pitchFamily="18" charset="0"/>
                        </a:rPr>
                        <a:t>Covers both offensive capability and defense, with special attention to open-weight models and defensive prompt injection.</a:t>
                      </a: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indent="0" algn="l" fontAlgn="base" latinLnBrk="0">
                        <a:buNone/>
                      </a:pPr>
                      <a:r>
                        <a:rPr lang="en-IN" sz="1800" dirty="0">
                          <a:effectLst/>
                          <a:latin typeface="Times New Roman" panose="02020603050405020304" pitchFamily="18" charset="0"/>
                          <a:cs typeface="Times New Roman" panose="02020603050405020304" pitchFamily="18" charset="0"/>
                        </a:rPr>
                        <a:t>Controlled setting, simple attack scenarios, and model-specific results limit generalization to real-world threats.</a:t>
                      </a:r>
                    </a:p>
                  </a:txBody>
                  <a:tcPr marL="60960" marR="60960" marT="60960" marB="6096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2011856">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8</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2024</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buNone/>
                      </a:pPr>
                      <a:r>
                        <a:rPr lang="en-IN" sz="1800" b="1" dirty="0">
                          <a:latin typeface="Times New Roman" panose="02020603050405020304" pitchFamily="18" charset="0"/>
                          <a:cs typeface="Times New Roman" panose="02020603050405020304" pitchFamily="18" charset="0"/>
                        </a:rPr>
                        <a:t>AI-Generated Cyber Threats: The Rise of Autonomous Hacking 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Based on a conceptual and analytical discussion of AI-driven cyber threats, autonomous attack capabilities, ethical concerns, and defensive strategies.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Highlights the double-edged role of AI in cybersecurity: it strengthens defense while also enabling autonomous reconnaissance, vulnerability assessment, malware development, and attack selection.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Appears to be more of a discussion/review-style work than an experimental study; lacks concrete benchmark results, implementation details, or quantitative evaluation in the provided text.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r h="1419468">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1</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9</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0000"/>
                        </a:lnSpc>
                        <a:spcAft>
                          <a:spcPts val="800"/>
                        </a:spcAft>
                      </a:pPr>
                      <a:r>
                        <a:rPr lang="en-IN" sz="1800" b="1" dirty="0">
                          <a:latin typeface="Times New Roman" panose="02020603050405020304" pitchFamily="18" charset="0"/>
                          <a:cs typeface="Times New Roman" panose="02020603050405020304" pitchFamily="18" charset="0"/>
                        </a:rPr>
                        <a:t>Cyber Threat Hunting using Unsupervised Federated Learning and Adversary Emulation</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Local endpoint training; sharing only model weights; uses adversary emulation for training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Raw data never leaves the device; detects zero-days without labeled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Vulnerable to poisoning attacks; high communication overhead.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603512273"/>
                  </a:ext>
                </a:extLst>
              </a:tr>
              <a:tr h="1759561">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0</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marR="28575" algn="l">
                        <a:lnSpc>
                          <a:spcPct val="100000"/>
                        </a:lnSpc>
                        <a:spcAft>
                          <a:spcPts val="800"/>
                        </a:spcAft>
                      </a:pPr>
                      <a:r>
                        <a:rPr lang="en-IN" sz="1800" b="1" dirty="0">
                          <a:latin typeface="Times New Roman" panose="02020603050405020304" pitchFamily="18" charset="0"/>
                          <a:cs typeface="Times New Roman" panose="02020603050405020304" pitchFamily="18" charset="0"/>
                        </a:rPr>
                        <a:t>Cyber Threat Hunting to Detect Unknown Threats in the Enterprise Network</a:t>
                      </a:r>
                      <a:endPar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Aggregates feeds/logs -&gt; Maps to MITRE ATT&amp;CK -&gt; Proactive analyst investigations.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Continuous feedback loop directly updates CTI and internal rules.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buNone/>
                      </a:pPr>
                      <a:r>
                        <a:rPr lang="en-IN" sz="1800" dirty="0">
                          <a:latin typeface="Times New Roman" panose="02020603050405020304" pitchFamily="18" charset="0"/>
                          <a:cs typeface="Times New Roman" panose="02020603050405020304" pitchFamily="18" charset="0"/>
                        </a:rPr>
                        <a:t>High manual workload for analysts; periodic instead of real-time monitoring.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4049649089"/>
                  </a:ext>
                </a:extLst>
              </a:tr>
            </a:tbl>
          </a:graphicData>
        </a:graphic>
      </p:graphicFrame>
    </p:spTree>
    <p:extLst>
      <p:ext uri="{BB962C8B-B14F-4D97-AF65-F5344CB8AC3E}">
        <p14:creationId xmlns:p14="http://schemas.microsoft.com/office/powerpoint/2010/main" val="2792614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82CB4-4B02-B6F3-DB44-2C0BA00F4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7E252D-623D-8F34-ACB9-7DDB6060A031}"/>
              </a:ext>
            </a:extLst>
          </p:cNvPr>
          <p:cNvSpPr>
            <a:spLocks noGrp="1"/>
          </p:cNvSpPr>
          <p:nvPr>
            <p:ph type="ctrTitle" idx="4294967295"/>
          </p:nvPr>
        </p:nvSpPr>
        <p:spPr>
          <a:xfrm>
            <a:off x="560438" y="152402"/>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6D4B025-D02C-B509-289A-7BF13C055E3C}"/>
              </a:ext>
            </a:extLst>
          </p:cNvPr>
          <p:cNvGraphicFramePr>
            <a:graphicFrameLocks noGrp="1"/>
          </p:cNvGraphicFramePr>
          <p:nvPr>
            <p:extLst>
              <p:ext uri="{D42A27DB-BD31-4B8C-83A1-F6EECF244321}">
                <p14:modId xmlns:p14="http://schemas.microsoft.com/office/powerpoint/2010/main" val="2333408068"/>
              </p:ext>
            </p:extLst>
          </p:nvPr>
        </p:nvGraphicFramePr>
        <p:xfrm>
          <a:off x="1" y="1565456"/>
          <a:ext cx="18287999" cy="8311775"/>
        </p:xfrm>
        <a:graphic>
          <a:graphicData uri="http://schemas.openxmlformats.org/drawingml/2006/table">
            <a:tbl>
              <a:tblPr firstRow="1" firstCol="1" bandRow="1">
                <a:tableStyleId>{9D7B26C5-4107-4FEC-AEDC-1716B250A1EF}</a:tableStyleId>
              </a:tblPr>
              <a:tblGrid>
                <a:gridCol w="803899">
                  <a:extLst>
                    <a:ext uri="{9D8B030D-6E8A-4147-A177-3AD203B41FA5}">
                      <a16:colId xmlns:a16="http://schemas.microsoft.com/office/drawing/2014/main" val="20000"/>
                    </a:ext>
                  </a:extLst>
                </a:gridCol>
                <a:gridCol w="1331723">
                  <a:extLst>
                    <a:ext uri="{9D8B030D-6E8A-4147-A177-3AD203B41FA5}">
                      <a16:colId xmlns:a16="http://schemas.microsoft.com/office/drawing/2014/main" val="20002"/>
                    </a:ext>
                  </a:extLst>
                </a:gridCol>
                <a:gridCol w="3254283">
                  <a:extLst>
                    <a:ext uri="{9D8B030D-6E8A-4147-A177-3AD203B41FA5}">
                      <a16:colId xmlns:a16="http://schemas.microsoft.com/office/drawing/2014/main" val="20003"/>
                    </a:ext>
                  </a:extLst>
                </a:gridCol>
                <a:gridCol w="3786694">
                  <a:extLst>
                    <a:ext uri="{9D8B030D-6E8A-4147-A177-3AD203B41FA5}">
                      <a16:colId xmlns:a16="http://schemas.microsoft.com/office/drawing/2014/main" val="992816711"/>
                    </a:ext>
                  </a:extLst>
                </a:gridCol>
                <a:gridCol w="4638877">
                  <a:extLst>
                    <a:ext uri="{9D8B030D-6E8A-4147-A177-3AD203B41FA5}">
                      <a16:colId xmlns:a16="http://schemas.microsoft.com/office/drawing/2014/main" val="1495101879"/>
                    </a:ext>
                  </a:extLst>
                </a:gridCol>
                <a:gridCol w="4472523">
                  <a:extLst>
                    <a:ext uri="{9D8B030D-6E8A-4147-A177-3AD203B41FA5}">
                      <a16:colId xmlns:a16="http://schemas.microsoft.com/office/drawing/2014/main" val="673159505"/>
                    </a:ext>
                  </a:extLst>
                </a:gridCol>
              </a:tblGrid>
              <a:tr h="1444373">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Year</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53207">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1</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A Proactive Approach to Advanced Cyber Threat Hunting</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Assess infrastructure -&gt; Threat modeling -&gt; Continuous monitoring &amp; anomaly mapping.</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Includes an upfront "Preparedness Assessment"; focuses on long-term resilience.</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Highly dependent on manual investigation; lacks live CTI feed integration.</a:t>
                      </a:r>
                      <a:endParaRPr lang="en-IN" sz="180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1752265">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2</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Tailored Learning Rates for Reinforcement Learning</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Uses a visual analysis of learning-rate effects and compares different rates across training episodes to study score and stability trends.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Focuses on tailoring learning rates to the RL task instead of using a fixed default, and provides practical guidance for selection.</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Can be extended to more RL algorithms, larger benchmark sets, adaptive rate selection, and automated tuning methods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r h="1514669">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Supervised and Unsupervised Learning Techniques Utilizing Malware Datasets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Uses labeled malware data for supervised models and unlabeled structure/pattern discovery for unsupervised models, then compares their detection performance</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The paper is useful because it looks at both learning paradigms together, which helps show when supervised methods work better and when unsupervised methods are more helpful.</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Future work can expand to more malware families, dynamic-analysis features, cross-platform datasets, and hybrid supervised-unsupervised pipelines for stronger detection</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603512273"/>
                  </a:ext>
                </a:extLst>
              </a:tr>
              <a:tr h="2037930">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4</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An Integrated Approach of Threat Analysis for Autonomous Vehicles Perception System</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Models sensor/software threats, maps cyber and physical attacks, and assesses risk mathematically</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Focuses specifically on the perception layer and connects threats to driving behavior</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Assumptions may limit realism, hard to model full AV stacks, validation is resource-intensive.</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4049649089"/>
                  </a:ext>
                </a:extLst>
              </a:tr>
            </a:tbl>
          </a:graphicData>
        </a:graphic>
      </p:graphicFrame>
    </p:spTree>
    <p:extLst>
      <p:ext uri="{BB962C8B-B14F-4D97-AF65-F5344CB8AC3E}">
        <p14:creationId xmlns:p14="http://schemas.microsoft.com/office/powerpoint/2010/main" val="4030183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C58E7-4E93-6352-7F7D-EC3CE293C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EEA0E-69EC-9900-2B7F-4DF00D636D65}"/>
              </a:ext>
            </a:extLst>
          </p:cNvPr>
          <p:cNvSpPr>
            <a:spLocks noGrp="1"/>
          </p:cNvSpPr>
          <p:nvPr>
            <p:ph type="ctrTitle" idx="4294967295"/>
          </p:nvPr>
        </p:nvSpPr>
        <p:spPr>
          <a:xfrm>
            <a:off x="560438" y="152402"/>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2C7C902-ECB3-1086-ECE6-625373AE10B4}"/>
              </a:ext>
            </a:extLst>
          </p:cNvPr>
          <p:cNvGraphicFramePr>
            <a:graphicFrameLocks noGrp="1"/>
          </p:cNvGraphicFramePr>
          <p:nvPr>
            <p:extLst>
              <p:ext uri="{D42A27DB-BD31-4B8C-83A1-F6EECF244321}">
                <p14:modId xmlns:p14="http://schemas.microsoft.com/office/powerpoint/2010/main" val="1614532535"/>
              </p:ext>
            </p:extLst>
          </p:nvPr>
        </p:nvGraphicFramePr>
        <p:xfrm>
          <a:off x="0" y="1565456"/>
          <a:ext cx="18287999" cy="8721544"/>
        </p:xfrm>
        <a:graphic>
          <a:graphicData uri="http://schemas.openxmlformats.org/drawingml/2006/table">
            <a:tbl>
              <a:tblPr firstRow="1" firstCol="1" bandRow="1">
                <a:tableStyleId>{9D7B26C5-4107-4FEC-AEDC-1716B250A1EF}</a:tableStyleId>
              </a:tblPr>
              <a:tblGrid>
                <a:gridCol w="801846">
                  <a:extLst>
                    <a:ext uri="{9D8B030D-6E8A-4147-A177-3AD203B41FA5}">
                      <a16:colId xmlns:a16="http://schemas.microsoft.com/office/drawing/2014/main" val="20000"/>
                    </a:ext>
                  </a:extLst>
                </a:gridCol>
                <a:gridCol w="1328322">
                  <a:extLst>
                    <a:ext uri="{9D8B030D-6E8A-4147-A177-3AD203B41FA5}">
                      <a16:colId xmlns:a16="http://schemas.microsoft.com/office/drawing/2014/main" val="20002"/>
                    </a:ext>
                  </a:extLst>
                </a:gridCol>
                <a:gridCol w="3245971">
                  <a:extLst>
                    <a:ext uri="{9D8B030D-6E8A-4147-A177-3AD203B41FA5}">
                      <a16:colId xmlns:a16="http://schemas.microsoft.com/office/drawing/2014/main" val="20003"/>
                    </a:ext>
                  </a:extLst>
                </a:gridCol>
                <a:gridCol w="3777023">
                  <a:extLst>
                    <a:ext uri="{9D8B030D-6E8A-4147-A177-3AD203B41FA5}">
                      <a16:colId xmlns:a16="http://schemas.microsoft.com/office/drawing/2014/main" val="992816711"/>
                    </a:ext>
                  </a:extLst>
                </a:gridCol>
                <a:gridCol w="4627030">
                  <a:extLst>
                    <a:ext uri="{9D8B030D-6E8A-4147-A177-3AD203B41FA5}">
                      <a16:colId xmlns:a16="http://schemas.microsoft.com/office/drawing/2014/main" val="1495101879"/>
                    </a:ext>
                  </a:extLst>
                </a:gridCol>
                <a:gridCol w="4507807">
                  <a:extLst>
                    <a:ext uri="{9D8B030D-6E8A-4147-A177-3AD203B41FA5}">
                      <a16:colId xmlns:a16="http://schemas.microsoft.com/office/drawing/2014/main" val="673159505"/>
                    </a:ext>
                  </a:extLst>
                </a:gridCol>
              </a:tblGrid>
              <a:tr h="1495099">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Year</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735275">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5</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2022</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Development of Threat Hunting Model Using Machine Learning Algorithms for Cyber Attacks Mitigation</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Data preprocessing -&gt; Feature extraction -&gt; ML pattern learning -&gt; Alert generation.</a:t>
                      </a:r>
                      <a:endParaRPr lang="en-IN" sz="180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Introduces a Threat Hunting Maturity Model; highly proactive.</a:t>
                      </a:r>
                      <a:endParaRPr lang="en-IN" sz="180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Prone to false positives; lacks explainability (XAI); manual incident response.</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1813804">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6</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2022</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Zero-day Attack Solutions Using Threat Hunting Intelligence: Extensive Survey</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Comprehensive literature review of techniques to detect unknown exploits.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Literature analysis -&gt; Classification of detection methods -&gt; Evaluation of challenges.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Existing methods face high false positives, data overload, and limited datasets.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r h="1567864">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7</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2022</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The Advance of Reinforcement Learning and Deep Reinforcement Learning</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This is a survey-style paper, so its main method is literature review and conceptual organization rather than experiments on a new model</a:t>
                      </a:r>
                      <a:endParaRPr lang="en-IN" sz="180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Its main value is the broad overview of RL’s evolution and the way it connects classical RL with DRL in one place</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Future work in this area would focus on stronger DRL methods for harder tasks, better sample efficiency, and more stable learning in real-world applications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603512273"/>
                  </a:ext>
                </a:extLst>
              </a:tr>
              <a:tr h="2109502">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8</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2021</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Cyber Security Model for Threat Hunting</a:t>
                      </a:r>
                      <a:endParaRPr lang="en-IN" sz="1800" b="1"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Risk assessment -&gt; Threat prioritization -&gt; CTI integration -&gt; Continuous hunting.</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Embeds formal risk evaluation into the hunting process; focuses on data privacy.</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Lacks AI/ML automation for detection; no standardized performance KPIs.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4049649089"/>
                  </a:ext>
                </a:extLst>
              </a:tr>
            </a:tbl>
          </a:graphicData>
        </a:graphic>
      </p:graphicFrame>
    </p:spTree>
    <p:extLst>
      <p:ext uri="{BB962C8B-B14F-4D97-AF65-F5344CB8AC3E}">
        <p14:creationId xmlns:p14="http://schemas.microsoft.com/office/powerpoint/2010/main" val="930012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81BE1-57D0-91EF-E701-2294AB7B1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CD5E3-1D63-371D-52F8-CDB2559258ED}"/>
              </a:ext>
            </a:extLst>
          </p:cNvPr>
          <p:cNvSpPr>
            <a:spLocks noGrp="1"/>
          </p:cNvSpPr>
          <p:nvPr>
            <p:ph type="ctrTitle" idx="4294967295"/>
          </p:nvPr>
        </p:nvSpPr>
        <p:spPr>
          <a:xfrm>
            <a:off x="560438" y="152402"/>
            <a:ext cx="17211368" cy="1425677"/>
          </a:xfrm>
        </p:spPr>
        <p:txBody>
          <a:bodyPr>
            <a:normAutofit/>
          </a:bodyPr>
          <a:lstStyle/>
          <a:p>
            <a:pPr algn="ctr"/>
            <a:r>
              <a:rPr lang="en-GB" sz="5800" b="1" dirty="0">
                <a:latin typeface="Times New Roman" panose="02020603050405020304" pitchFamily="18" charset="0"/>
                <a:ea typeface="Montserrat" panose="00000500000000000000"/>
                <a:cs typeface="Times New Roman" panose="02020603050405020304" pitchFamily="18" charset="0"/>
                <a:sym typeface="Montserrat" panose="00000500000000000000"/>
              </a:rPr>
              <a:t>Literature Survey</a:t>
            </a:r>
            <a:endParaRPr lang="en-IN" sz="58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8E8045B-C5EF-7F36-8363-60041A6B6760}"/>
              </a:ext>
            </a:extLst>
          </p:cNvPr>
          <p:cNvGraphicFramePr>
            <a:graphicFrameLocks noGrp="1"/>
          </p:cNvGraphicFramePr>
          <p:nvPr>
            <p:extLst>
              <p:ext uri="{D42A27DB-BD31-4B8C-83A1-F6EECF244321}">
                <p14:modId xmlns:p14="http://schemas.microsoft.com/office/powerpoint/2010/main" val="3959373668"/>
              </p:ext>
            </p:extLst>
          </p:nvPr>
        </p:nvGraphicFramePr>
        <p:xfrm>
          <a:off x="0" y="1565456"/>
          <a:ext cx="18287999" cy="4749845"/>
        </p:xfrm>
        <a:graphic>
          <a:graphicData uri="http://schemas.openxmlformats.org/drawingml/2006/table">
            <a:tbl>
              <a:tblPr firstRow="1" firstCol="1" bandRow="1">
                <a:tableStyleId>{9D7B26C5-4107-4FEC-AEDC-1716B250A1EF}</a:tableStyleId>
              </a:tblPr>
              <a:tblGrid>
                <a:gridCol w="801846">
                  <a:extLst>
                    <a:ext uri="{9D8B030D-6E8A-4147-A177-3AD203B41FA5}">
                      <a16:colId xmlns:a16="http://schemas.microsoft.com/office/drawing/2014/main" val="20000"/>
                    </a:ext>
                  </a:extLst>
                </a:gridCol>
                <a:gridCol w="1328322">
                  <a:extLst>
                    <a:ext uri="{9D8B030D-6E8A-4147-A177-3AD203B41FA5}">
                      <a16:colId xmlns:a16="http://schemas.microsoft.com/office/drawing/2014/main" val="20002"/>
                    </a:ext>
                  </a:extLst>
                </a:gridCol>
                <a:gridCol w="3245971">
                  <a:extLst>
                    <a:ext uri="{9D8B030D-6E8A-4147-A177-3AD203B41FA5}">
                      <a16:colId xmlns:a16="http://schemas.microsoft.com/office/drawing/2014/main" val="20003"/>
                    </a:ext>
                  </a:extLst>
                </a:gridCol>
                <a:gridCol w="3777023">
                  <a:extLst>
                    <a:ext uri="{9D8B030D-6E8A-4147-A177-3AD203B41FA5}">
                      <a16:colId xmlns:a16="http://schemas.microsoft.com/office/drawing/2014/main" val="992816711"/>
                    </a:ext>
                  </a:extLst>
                </a:gridCol>
                <a:gridCol w="4627030">
                  <a:extLst>
                    <a:ext uri="{9D8B030D-6E8A-4147-A177-3AD203B41FA5}">
                      <a16:colId xmlns:a16="http://schemas.microsoft.com/office/drawing/2014/main" val="1495101879"/>
                    </a:ext>
                  </a:extLst>
                </a:gridCol>
                <a:gridCol w="4507807">
                  <a:extLst>
                    <a:ext uri="{9D8B030D-6E8A-4147-A177-3AD203B41FA5}">
                      <a16:colId xmlns:a16="http://schemas.microsoft.com/office/drawing/2014/main" val="673159505"/>
                    </a:ext>
                  </a:extLst>
                </a:gridCol>
              </a:tblGrid>
              <a:tr h="1444373">
                <a:tc>
                  <a:txBody>
                    <a:bodyPr/>
                    <a:lstStyle/>
                    <a:p>
                      <a:pPr algn="ctr">
                        <a:lnSpc>
                          <a:spcPct val="107000"/>
                        </a:lnSpc>
                        <a:spcAft>
                          <a:spcPts val="800"/>
                        </a:spcAft>
                      </a:pPr>
                      <a:r>
                        <a:rPr lang="en-US" sz="2400" kern="0" dirty="0">
                          <a:effectLst/>
                          <a:latin typeface="Times New Roman" panose="02020603050405020304" pitchFamily="18" charset="0"/>
                          <a:ea typeface="Calibri" panose="020F0502020204030204" pitchFamily="34" charset="0"/>
                          <a:cs typeface="Times New Roman" panose="02020603050405020304" pitchFamily="18" charset="0"/>
                        </a:rPr>
                        <a:t>S</a:t>
                      </a:r>
                      <a:r>
                        <a:rPr lang="en-IN" sz="2400" kern="0" dirty="0">
                          <a:effectLst/>
                          <a:latin typeface="Times New Roman" panose="02020603050405020304" pitchFamily="18" charset="0"/>
                          <a:ea typeface="Calibri" panose="020F0502020204030204" pitchFamily="34" charset="0"/>
                          <a:cs typeface="Times New Roman" panose="02020603050405020304" pitchFamily="18" charset="0"/>
                        </a:rPr>
                        <a:t>r No</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Year</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8575" algn="ctr">
                        <a:lnSpc>
                          <a:spcPct val="107000"/>
                        </a:lnSpc>
                        <a:spcAft>
                          <a:spcPts val="800"/>
                        </a:spcAft>
                      </a:pPr>
                      <a:r>
                        <a:rPr lang="en-IN" sz="2400" kern="0" dirty="0">
                          <a:effectLst/>
                          <a:latin typeface="Times New Roman" panose="02020603050405020304" pitchFamily="18" charset="0"/>
                          <a:cs typeface="Times New Roman" panose="02020603050405020304" pitchFamily="18" charset="0"/>
                        </a:rPr>
                        <a:t>Title </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L="0" marR="24765" lvl="0" indent="0" algn="ctr" defTabSz="914400" rtl="0" eaLnBrk="1" fontAlgn="auto" latinLnBrk="0" hangingPunct="1">
                        <a:lnSpc>
                          <a:spcPct val="107000"/>
                        </a:lnSpc>
                        <a:spcBef>
                          <a:spcPts val="0"/>
                        </a:spcBef>
                        <a:spcAft>
                          <a:spcPts val="800"/>
                        </a:spcAft>
                        <a:buClrTx/>
                        <a:buSzTx/>
                        <a:buFontTx/>
                        <a:buNone/>
                        <a:tabLst/>
                        <a:defRPr/>
                      </a:pPr>
                      <a:r>
                        <a:rPr lang="en-IN" sz="2400" kern="0" dirty="0">
                          <a:effectLst/>
                          <a:latin typeface="Times New Roman" panose="02020603050405020304" pitchFamily="18" charset="0"/>
                          <a:cs typeface="Times New Roman" panose="02020603050405020304" pitchFamily="18" charset="0"/>
                        </a:rPr>
                        <a:t>Methodology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R="24765" algn="ctr">
                        <a:lnSpc>
                          <a:spcPct val="107000"/>
                        </a:lnSpc>
                        <a:spcAft>
                          <a:spcPts val="800"/>
                        </a:spcAft>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IN" sz="2400" kern="100" dirty="0">
                          <a:effectLst/>
                          <a:latin typeface="Times New Roman" panose="02020603050405020304" pitchFamily="18" charset="0"/>
                          <a:ea typeface="Calibri" panose="020F0502020204030204" pitchFamily="34" charset="0"/>
                          <a:cs typeface="Times New Roman" panose="02020603050405020304" pitchFamily="18" charset="0"/>
                        </a:rPr>
                        <a:t>Unique Features</a:t>
                      </a:r>
                    </a:p>
                  </a:txBody>
                  <a:tcPr marL="67814" marR="67814" marT="67814" marB="67814">
                    <a:lnB w="12700" cap="flat" cmpd="sng" algn="ctr">
                      <a:solidFill>
                        <a:schemeClr val="tx1"/>
                      </a:solidFill>
                      <a:prstDash val="solid"/>
                      <a:round/>
                      <a:headEnd type="none" w="med" len="med"/>
                      <a:tailEnd type="none" w="med" len="med"/>
                    </a:lnB>
                  </a:tcPr>
                </a:tc>
                <a:tc>
                  <a:txBody>
                    <a:bodyPr/>
                    <a:lstStyle/>
                    <a:p>
                      <a:pPr marR="24765" algn="ctr">
                        <a:lnSpc>
                          <a:spcPct val="107000"/>
                        </a:lnSpc>
                        <a:spcAft>
                          <a:spcPts val="800"/>
                        </a:spcAft>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Future Scope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7814" marR="67814" marT="67814" marB="67814">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553207">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2</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9</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7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2021</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Experiments Focused on Exploration in Deep Reinforcement Learning</a:t>
                      </a:r>
                      <a:endParaRPr lang="en-IN" sz="1800" b="0" dirty="0">
                        <a:effectLst/>
                        <a:latin typeface="Times New Roman" panose="02020603050405020304" pitchFamily="18" charset="0"/>
                        <a:cs typeface="Times New Roman" panose="02020603050405020304" pitchFamily="18" charset="0"/>
                      </a:endParaRPr>
                    </a:p>
                    <a:p>
                      <a:br>
                        <a:rPr lang="en-IN" sz="1800" dirty="0">
                          <a:latin typeface="Times New Roman" panose="02020603050405020304" pitchFamily="18" charset="0"/>
                          <a:cs typeface="Times New Roman" panose="02020603050405020304" pitchFamily="18" charset="0"/>
                        </a:rPr>
                      </a:b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spcBef>
                          <a:spcPts val="1200"/>
                        </a:spcBef>
                        <a:spcAft>
                          <a:spcPts val="12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Uses experimental evaluation to analyze exploration behavior in deep RL settings, rather than only proposing a purely theoretical framework</a:t>
                      </a:r>
                      <a:endParaRPr lang="en-IN" sz="180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The paper’s focus on exploration makes it useful because exploration is one of the hardest parts of RL training</a:t>
                      </a:r>
                      <a:endParaRPr lang="en-IN" sz="180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spcBef>
                          <a:spcPts val="1200"/>
                        </a:spcBef>
                        <a:spcAft>
                          <a:spcPts val="1200"/>
                        </a:spcAf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Can be extended to more environments, stronger baselines, and different exploration strategies to test generality and robustness </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0001"/>
                  </a:ext>
                </a:extLst>
              </a:tr>
              <a:tr h="1752265">
                <a:tc>
                  <a:txBody>
                    <a:bodyPr/>
                    <a:lstStyle/>
                    <a:p>
                      <a:pPr algn="just">
                        <a:lnSpc>
                          <a:spcPct val="107000"/>
                        </a:lnSpc>
                        <a:spcAft>
                          <a:spcPts val="800"/>
                        </a:spcAft>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3</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0</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algn="l">
                        <a:lnSpc>
                          <a:spcPct val="100000"/>
                        </a:lnSpc>
                        <a:spcAft>
                          <a:spcPts val="800"/>
                        </a:spcAf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2020</a:t>
                      </a:r>
                    </a:p>
                  </a:txBody>
                  <a:tcPr marL="67814" marR="67814" marT="67814" marB="67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a:r>
                        <a:rPr lang="en-IN" sz="1800" b="1" i="0" u="none" strike="noStrike" kern="1200" dirty="0">
                          <a:solidFill>
                            <a:schemeClr val="tx1"/>
                          </a:solidFill>
                          <a:effectLst/>
                          <a:latin typeface="Times New Roman" panose="02020603050405020304" pitchFamily="18" charset="0"/>
                          <a:ea typeface="+mn-ea"/>
                          <a:cs typeface="Times New Roman" panose="02020603050405020304" pitchFamily="18" charset="0"/>
                        </a:rPr>
                        <a:t>Overview of Meta-Reinforcement Learning Research</a:t>
                      </a:r>
                      <a:endParaRPr lang="en-IN" sz="1800" b="0" dirty="0">
                        <a:effectLst/>
                        <a:latin typeface="Times New Roman" panose="02020603050405020304" pitchFamily="18" charset="0"/>
                        <a:cs typeface="Times New Roman" panose="02020603050405020304" pitchFamily="18" charset="0"/>
                      </a:endParaRPr>
                    </a:p>
                    <a:p>
                      <a:br>
                        <a:rPr lang="en-IN" sz="1800" dirty="0">
                          <a:latin typeface="Times New Roman" panose="02020603050405020304" pitchFamily="18" charset="0"/>
                          <a:cs typeface="Times New Roman" panose="02020603050405020304" pitchFamily="18" charset="0"/>
                        </a:rPr>
                      </a:b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E5ECE">
                        <a:alpha val="20000"/>
                      </a:srgbClr>
                    </a:solidFill>
                  </a:tcPr>
                </a:tc>
                <a:tc>
                  <a:txBody>
                    <a:bodyPr/>
                    <a:lstStyle/>
                    <a:p>
                      <a:pPr rtl="0" fontAlgn="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It is an overview/survey paper, so the main method is literature review and classification of existing meta-RL research rather than proposing a new algorithm</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Its main value is in summarizing the field and explaining why meta-RL has attracted attention as a way to improve learning efficiency and generality</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tc>
                  <a:txBody>
                    <a:bodyPr/>
                    <a:lstStyle/>
                    <a:p>
                      <a:pPr rtl="0" fontAlgn="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Future work in this area includes stronger meta-RL algorithms that adapt faster to new tasks, broader benchmarks, and more practical applications where data efficiency matters</a:t>
                      </a:r>
                      <a:endParaRPr lang="en-IN" sz="1800" dirty="0">
                        <a:effectLst/>
                        <a:latin typeface="Times New Roman" panose="02020603050405020304" pitchFamily="18" charset="0"/>
                        <a:cs typeface="Times New Roman" panose="02020603050405020304" pitchFamily="18" charset="0"/>
                      </a:endParaRPr>
                    </a:p>
                  </a:txBody>
                  <a:tcPr marL="76200" marR="7620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alpha val="20000"/>
                      </a:srgbClr>
                    </a:solidFill>
                  </a:tcPr>
                </a:tc>
                <a:extLst>
                  <a:ext uri="{0D108BD9-81ED-4DB2-BD59-A6C34878D82A}">
                    <a16:rowId xmlns:a16="http://schemas.microsoft.com/office/drawing/2014/main" val="1735817228"/>
                  </a:ext>
                </a:extLst>
              </a:tr>
            </a:tbl>
          </a:graphicData>
        </a:graphic>
      </p:graphicFrame>
    </p:spTree>
    <p:extLst>
      <p:ext uri="{BB962C8B-B14F-4D97-AF65-F5344CB8AC3E}">
        <p14:creationId xmlns:p14="http://schemas.microsoft.com/office/powerpoint/2010/main" val="2427767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C5645-28D1-46C3-F592-C72393CE09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3C81B22-5E46-01BB-30A8-6E3B6E7EE3C0}"/>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81DFFCE4-8C01-24BB-2650-7A8F93EF25A8}"/>
              </a:ext>
            </a:extLst>
          </p:cNvPr>
          <p:cNvSpPr txBox="1"/>
          <p:nvPr/>
        </p:nvSpPr>
        <p:spPr>
          <a:xfrm>
            <a:off x="6553200" y="647700"/>
            <a:ext cx="5715000" cy="820738"/>
          </a:xfrm>
          <a:prstGeom prst="rect">
            <a:avLst/>
          </a:prstGeom>
        </p:spPr>
        <p:txBody>
          <a:bodyPr wrap="square" lIns="0" tIns="0" rIns="0" bIns="0" rtlCol="0" anchor="t">
            <a:spAutoFit/>
          </a:bodyPr>
          <a:lstStyle/>
          <a:p>
            <a:pPr algn="l">
              <a:lnSpc>
                <a:spcPts val="6415"/>
              </a:lnSpc>
            </a:pPr>
            <a:r>
              <a:rPr lang="en-US" sz="5800" b="1" dirty="0">
                <a:solidFill>
                  <a:srgbClr val="000000"/>
                </a:solidFill>
                <a:latin typeface="Times New Roman Bold"/>
                <a:ea typeface="Times New Roman Bold"/>
                <a:cs typeface="Times New Roman Bold"/>
                <a:sym typeface="Times New Roman Bold"/>
              </a:rPr>
              <a:t>Gaps Identified</a:t>
            </a:r>
          </a:p>
        </p:txBody>
      </p:sp>
      <p:sp>
        <p:nvSpPr>
          <p:cNvPr id="3" name="Rectangle 2">
            <a:extLst>
              <a:ext uri="{FF2B5EF4-FFF2-40B4-BE49-F238E27FC236}">
                <a16:creationId xmlns:a16="http://schemas.microsoft.com/office/drawing/2014/main" id="{C703485B-2FE0-593A-38C2-D9C78280E574}"/>
              </a:ext>
            </a:extLst>
          </p:cNvPr>
          <p:cNvSpPr/>
          <p:nvPr/>
        </p:nvSpPr>
        <p:spPr>
          <a:xfrm>
            <a:off x="1066800" y="1714500"/>
            <a:ext cx="16154400" cy="71628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Limited Adaptability to Evolving Threats</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Existing solutions primarily rely on static detection mechanisms or predefined playbooks, limiting their ability to adapt to evolving cyber threats in real time. </a:t>
            </a:r>
          </a:p>
          <a:p>
            <a:pPr lvl="1"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Lack of Fully Autonomous Threat Hunting</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Most current frameworks focus on threat detection rather than autonomous decision-making, investigation, and response with minimal human intervention. </a:t>
            </a:r>
          </a:p>
          <a:p>
            <a:pPr lvl="1"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Insufficient Real-Time and Multi-Source Data Processing</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Existing approaches have limited capability to process real-time streaming data while effectively integrating logs, threat intelligence, and heterogeneous data sources. </a:t>
            </a:r>
          </a:p>
          <a:p>
            <a:pPr lvl="1"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Poor Explainability and Trustworthiness</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Many AI-based cybersecurity models operate as black boxes, making their decisions difficult to interpret, validate, and trust in enterprise environments. </a:t>
            </a:r>
          </a:p>
        </p:txBody>
      </p:sp>
    </p:spTree>
    <p:extLst>
      <p:ext uri="{BB962C8B-B14F-4D97-AF65-F5344CB8AC3E}">
        <p14:creationId xmlns:p14="http://schemas.microsoft.com/office/powerpoint/2010/main" val="1010647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36120303-BD45-6BD4-4B30-F4B20B21226B}"/>
              </a:ext>
            </a:extLst>
          </p:cNvPr>
          <p:cNvSpPr txBox="1"/>
          <p:nvPr/>
        </p:nvSpPr>
        <p:spPr>
          <a:xfrm>
            <a:off x="6553200" y="647700"/>
            <a:ext cx="5715000" cy="820738"/>
          </a:xfrm>
          <a:prstGeom prst="rect">
            <a:avLst/>
          </a:prstGeom>
        </p:spPr>
        <p:txBody>
          <a:bodyPr wrap="square" lIns="0" tIns="0" rIns="0" bIns="0" rtlCol="0" anchor="t">
            <a:spAutoFit/>
          </a:bodyPr>
          <a:lstStyle/>
          <a:p>
            <a:pPr algn="l">
              <a:lnSpc>
                <a:spcPts val="6415"/>
              </a:lnSpc>
            </a:pPr>
            <a:r>
              <a:rPr lang="en-US" sz="5800" b="1" dirty="0">
                <a:solidFill>
                  <a:srgbClr val="000000"/>
                </a:solidFill>
                <a:latin typeface="Times New Roman Bold"/>
                <a:ea typeface="Times New Roman Bold"/>
                <a:cs typeface="Times New Roman Bold"/>
                <a:sym typeface="Times New Roman Bold"/>
              </a:rPr>
              <a:t>Gaps Identified</a:t>
            </a:r>
          </a:p>
        </p:txBody>
      </p:sp>
      <p:sp>
        <p:nvSpPr>
          <p:cNvPr id="3" name="Rectangle 2">
            <a:extLst>
              <a:ext uri="{FF2B5EF4-FFF2-40B4-BE49-F238E27FC236}">
                <a16:creationId xmlns:a16="http://schemas.microsoft.com/office/drawing/2014/main" id="{23575F2C-BD6E-015B-DEF4-75800D53288F}"/>
              </a:ext>
            </a:extLst>
          </p:cNvPr>
          <p:cNvSpPr/>
          <p:nvPr/>
        </p:nvSpPr>
        <p:spPr>
          <a:xfrm>
            <a:off x="1066800" y="1714500"/>
            <a:ext cx="16154400" cy="71628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Limited Scalability and Real-World Validation</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Most proposed models are evaluated using benchmark datasets or simulated environments, with limited validation in large-scale, dynamic enterprise, cloud, or IoT networks. </a:t>
            </a:r>
          </a:p>
          <a:p>
            <a:pPr lvl="1"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Challenges in Integration with Enterprise Security Platforms</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Current research lacks seamless integration with operational cybersecurity tools such as SIEM, SOAR, UEBA, and Cyber Threat Intelligence (CTI) platforms. </a:t>
            </a:r>
          </a:p>
          <a:p>
            <a:pPr lvl="1"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Dependence on Data Quality and Model Design</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The effectiveness of existing AI models is highly dependent on dataset quality, feature representation, prompt design, and algorithm-specific configurations, affecting generalization and reproducibility. </a:t>
            </a:r>
          </a:p>
          <a:p>
            <a:pPr lvl="1" algn="just"/>
            <a:endParaRPr lang="en-IN" sz="2400" dirty="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Need for Robust AI Governance and Secure Autonomous Systems</a:t>
            </a:r>
            <a:r>
              <a:rPr lang="en-IN" sz="2400" dirty="0">
                <a:latin typeface="Times New Roman" panose="02020603050405020304" pitchFamily="18" charset="0"/>
                <a:cs typeface="Times New Roman" panose="02020603050405020304" pitchFamily="18" charset="0"/>
              </a:rPr>
              <a:t> </a:t>
            </a:r>
          </a:p>
          <a:p>
            <a:pPr lvl="1" algn="just"/>
            <a:r>
              <a:rPr lang="en-IN" sz="2400" dirty="0">
                <a:latin typeface="Times New Roman" panose="02020603050405020304" pitchFamily="18" charset="0"/>
                <a:cs typeface="Times New Roman" panose="02020603050405020304" pitchFamily="18" charset="0"/>
              </a:rPr>
              <a:t>Existing studies provide limited focus on AI safety, ethical governance, resilience against adversarial attacks, and secure deployment of autonomous cyber </a:t>
            </a:r>
            <a:r>
              <a:rPr lang="en-IN" sz="2400" dirty="0" err="1">
                <a:latin typeface="Times New Roman" panose="02020603050405020304" pitchFamily="18" charset="0"/>
                <a:cs typeface="Times New Roman" panose="02020603050405020304" pitchFamily="18" charset="0"/>
              </a:rPr>
              <a:t>defense</a:t>
            </a:r>
            <a:r>
              <a:rPr lang="en-IN" sz="2400" dirty="0">
                <a:latin typeface="Times New Roman" panose="02020603050405020304" pitchFamily="18" charset="0"/>
                <a:cs typeface="Times New Roman" panose="02020603050405020304" pitchFamily="18" charset="0"/>
              </a:rPr>
              <a:t> systems.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0478-DDDC-083C-16C7-03BA553EDC1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7E1D16-1616-511E-E555-4A15F95EC6AC}"/>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5" name="TextBox 5">
            <a:extLst>
              <a:ext uri="{FF2B5EF4-FFF2-40B4-BE49-F238E27FC236}">
                <a16:creationId xmlns:a16="http://schemas.microsoft.com/office/drawing/2014/main" id="{64D08D93-A1AB-0A7D-145F-91D706150AC0}"/>
              </a:ext>
            </a:extLst>
          </p:cNvPr>
          <p:cNvSpPr txBox="1"/>
          <p:nvPr/>
        </p:nvSpPr>
        <p:spPr>
          <a:xfrm>
            <a:off x="7162800" y="647700"/>
            <a:ext cx="3429000" cy="820738"/>
          </a:xfrm>
          <a:prstGeom prst="rect">
            <a:avLst/>
          </a:prstGeom>
        </p:spPr>
        <p:txBody>
          <a:bodyPr wrap="square" lIns="0" tIns="0" rIns="0" bIns="0" rtlCol="0" anchor="t">
            <a:spAutoFit/>
          </a:bodyPr>
          <a:lstStyle/>
          <a:p>
            <a:pPr algn="l">
              <a:lnSpc>
                <a:spcPts val="6415"/>
              </a:lnSpc>
            </a:pPr>
            <a:r>
              <a:rPr lang="en-US" sz="5800" b="1" dirty="0">
                <a:solidFill>
                  <a:srgbClr val="000000"/>
                </a:solidFill>
                <a:latin typeface="Times New Roman Bold"/>
                <a:ea typeface="Times New Roman Bold"/>
                <a:cs typeface="Times New Roman Bold"/>
                <a:sym typeface="Times New Roman Bold"/>
              </a:rPr>
              <a:t>Objectives</a:t>
            </a:r>
          </a:p>
        </p:txBody>
      </p:sp>
      <p:sp>
        <p:nvSpPr>
          <p:cNvPr id="3" name="Rectangle 2">
            <a:extLst>
              <a:ext uri="{FF2B5EF4-FFF2-40B4-BE49-F238E27FC236}">
                <a16:creationId xmlns:a16="http://schemas.microsoft.com/office/drawing/2014/main" id="{4E6BE0C6-7F1E-4037-1C6D-64F73B7E4823}"/>
              </a:ext>
            </a:extLst>
          </p:cNvPr>
          <p:cNvSpPr/>
          <p:nvPr/>
        </p:nvSpPr>
        <p:spPr>
          <a:xfrm>
            <a:off x="1066800" y="1714500"/>
            <a:ext cx="16154400" cy="71628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To</a:t>
            </a:r>
            <a:r>
              <a:rPr lang="en-IN"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design an autonomous cyber threat hunting framework</a:t>
            </a:r>
            <a:r>
              <a:rPr lang="en-IN" sz="2400" dirty="0">
                <a:latin typeface="Times New Roman" panose="02020603050405020304" pitchFamily="18" charset="0"/>
                <a:cs typeface="Times New Roman" panose="02020603050405020304" pitchFamily="18" charset="0"/>
              </a:rPr>
              <a:t> capable of monitoring network events and identifying malicious activities without continuous human intervention. </a:t>
            </a:r>
            <a:r>
              <a:rPr lang="en-IN" sz="2400" b="1" dirty="0">
                <a:latin typeface="Times New Roman" panose="02020603050405020304" pitchFamily="18" charset="0"/>
                <a:cs typeface="Times New Roman" panose="02020603050405020304" pitchFamily="18" charset="0"/>
              </a:rPr>
              <a:t>To develop a Reinforcement Learning agent</a:t>
            </a:r>
            <a:r>
              <a:rPr lang="en-IN" sz="2400" dirty="0">
                <a:latin typeface="Times New Roman" panose="02020603050405020304" pitchFamily="18" charset="0"/>
                <a:cs typeface="Times New Roman" panose="02020603050405020304" pitchFamily="18" charset="0"/>
              </a:rPr>
              <a:t> that learns optimal threat hunting strategies through interaction with a simulated cybersecurity environment. </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To detect and prioritize cyber threats</a:t>
            </a:r>
            <a:r>
              <a:rPr lang="en-IN" sz="2400" dirty="0">
                <a:latin typeface="Times New Roman" panose="02020603050405020304" pitchFamily="18" charset="0"/>
                <a:cs typeface="Times New Roman" panose="02020603050405020304" pitchFamily="18" charset="0"/>
              </a:rPr>
              <a:t> by analysing network traffic, security logs, and attack patterns using adaptive decision-making techniques. </a:t>
            </a:r>
            <a:r>
              <a:rPr lang="en-IN" sz="2400" b="1" dirty="0">
                <a:latin typeface="Times New Roman" panose="02020603050405020304" pitchFamily="18" charset="0"/>
                <a:cs typeface="Times New Roman" panose="02020603050405020304" pitchFamily="18" charset="0"/>
              </a:rPr>
              <a:t>To reduce false positives and improve detection accuracy</a:t>
            </a:r>
            <a:r>
              <a:rPr lang="en-IN" sz="2400" dirty="0">
                <a:latin typeface="Times New Roman" panose="02020603050405020304" pitchFamily="18" charset="0"/>
                <a:cs typeface="Times New Roman" panose="02020603050405020304" pitchFamily="18" charset="0"/>
              </a:rPr>
              <a:t> compared with conventional rule-based security systems. </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To minimize Mean Time to Detect (MTTD) and Mean Time to Respond (MTTR)</a:t>
            </a:r>
            <a:r>
              <a:rPr lang="en-IN" sz="2400" dirty="0">
                <a:latin typeface="Times New Roman" panose="02020603050405020304" pitchFamily="18" charset="0"/>
                <a:cs typeface="Times New Roman" panose="02020603050405020304" pitchFamily="18" charset="0"/>
              </a:rPr>
              <a:t> by enabling automated threat identification and response recommendations. </a:t>
            </a:r>
            <a:r>
              <a:rPr lang="en-IN" sz="2400" b="1" dirty="0">
                <a:latin typeface="Times New Roman" panose="02020603050405020304" pitchFamily="18" charset="0"/>
                <a:cs typeface="Times New Roman" panose="02020603050405020304" pitchFamily="18" charset="0"/>
              </a:rPr>
              <a:t>To evaluate the effectiveness of the proposed framework</a:t>
            </a:r>
            <a:r>
              <a:rPr lang="en-IN" sz="2400" dirty="0">
                <a:latin typeface="Times New Roman" panose="02020603050405020304" pitchFamily="18" charset="0"/>
                <a:cs typeface="Times New Roman" panose="02020603050405020304" pitchFamily="18" charset="0"/>
              </a:rPr>
              <a:t> using benchmark cybersecurity datasets and standard performance metrics such as Precision, Recall, F1-score, Detection Rate, and Cumulative Reward. </a:t>
            </a:r>
          </a:p>
        </p:txBody>
      </p:sp>
    </p:spTree>
    <p:extLst>
      <p:ext uri="{BB962C8B-B14F-4D97-AF65-F5344CB8AC3E}">
        <p14:creationId xmlns:p14="http://schemas.microsoft.com/office/powerpoint/2010/main" val="1102532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877BE-F0CB-053E-3144-678DA77D84D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BED67F2-D2DC-3A99-891C-5AD9CD107DCE}"/>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a:p>
        </p:txBody>
      </p:sp>
      <p:sp>
        <p:nvSpPr>
          <p:cNvPr id="5" name="TextBox 5">
            <a:extLst>
              <a:ext uri="{FF2B5EF4-FFF2-40B4-BE49-F238E27FC236}">
                <a16:creationId xmlns:a16="http://schemas.microsoft.com/office/drawing/2014/main" id="{0A625D9E-2A2F-F9C1-FAB9-8B98BC473AD9}"/>
              </a:ext>
            </a:extLst>
          </p:cNvPr>
          <p:cNvSpPr txBox="1"/>
          <p:nvPr/>
        </p:nvSpPr>
        <p:spPr>
          <a:xfrm>
            <a:off x="6881095" y="523939"/>
            <a:ext cx="4449610" cy="820738"/>
          </a:xfrm>
          <a:prstGeom prst="rect">
            <a:avLst/>
          </a:prstGeom>
        </p:spPr>
        <p:txBody>
          <a:bodyPr lIns="0" tIns="0" rIns="0" bIns="0" rtlCol="0" anchor="t">
            <a:spAutoFit/>
          </a:bodyPr>
          <a:lstStyle/>
          <a:p>
            <a:pPr algn="l">
              <a:lnSpc>
                <a:spcPts val="6415"/>
              </a:lnSpc>
            </a:pPr>
            <a:r>
              <a:rPr lang="en-US" sz="5800" b="1" dirty="0">
                <a:solidFill>
                  <a:srgbClr val="000000"/>
                </a:solidFill>
                <a:latin typeface="Times New Roman Bold"/>
                <a:ea typeface="Times New Roman Bold"/>
                <a:cs typeface="Times New Roman Bold"/>
                <a:sym typeface="Times New Roman Bold"/>
              </a:rPr>
              <a:t>Methodology</a:t>
            </a:r>
          </a:p>
        </p:txBody>
      </p:sp>
      <p:sp>
        <p:nvSpPr>
          <p:cNvPr id="3" name="Rectangle 2">
            <a:extLst>
              <a:ext uri="{FF2B5EF4-FFF2-40B4-BE49-F238E27FC236}">
                <a16:creationId xmlns:a16="http://schemas.microsoft.com/office/drawing/2014/main" id="{A2837C69-DBCF-E01D-4B85-F38559F77F9A}"/>
              </a:ext>
            </a:extLst>
          </p:cNvPr>
          <p:cNvSpPr/>
          <p:nvPr/>
        </p:nvSpPr>
        <p:spPr>
          <a:xfrm>
            <a:off x="742950" y="1638300"/>
            <a:ext cx="16840200" cy="7772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IN" sz="2400" b="1" dirty="0">
                <a:latin typeface="Times New Roman" panose="02020603050405020304" pitchFamily="18" charset="0"/>
                <a:cs typeface="Times New Roman" panose="02020603050405020304" pitchFamily="18" charset="0"/>
              </a:rPr>
              <a:t>1. Dataset Collection and Preprocessing</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Select publicly available cybersecurity datasets such as </a:t>
            </a:r>
            <a:r>
              <a:rPr lang="en-IN" sz="2400" b="1" dirty="0">
                <a:latin typeface="Times New Roman" panose="02020603050405020304" pitchFamily="18" charset="0"/>
                <a:cs typeface="Times New Roman" panose="02020603050405020304" pitchFamily="18" charset="0"/>
              </a:rPr>
              <a:t>UWF-ZeekData24(</a:t>
            </a:r>
            <a:r>
              <a:rPr lang="en-IN" sz="2000" b="1" dirty="0">
                <a:latin typeface="Times New Roman" panose="02020603050405020304" pitchFamily="18" charset="0"/>
                <a:cs typeface="Times New Roman" panose="02020603050405020304" pitchFamily="18" charset="0"/>
              </a:rPr>
              <a:t>mapped to MITRE ATT&amp;CK</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Gotham2025(</a:t>
            </a:r>
            <a:r>
              <a:rPr lang="en-IN" sz="2000" b="1" dirty="0">
                <a:latin typeface="Times New Roman" panose="02020603050405020304" pitchFamily="18" charset="0"/>
                <a:cs typeface="Times New Roman" panose="02020603050405020304" pitchFamily="18" charset="0"/>
              </a:rPr>
              <a:t>raw PCAP and processed data</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CICIoT2023(</a:t>
            </a:r>
            <a:r>
              <a:rPr lang="en-IN" sz="2000" b="1" dirty="0">
                <a:latin typeface="Times New Roman" panose="02020603050405020304" pitchFamily="18" charset="0"/>
                <a:cs typeface="Times New Roman" panose="02020603050405020304" pitchFamily="18" charset="0"/>
              </a:rPr>
              <a:t>105 devices and 33 attacks</a:t>
            </a:r>
            <a:r>
              <a:rPr lang="en-IN" sz="2400" b="1" dirty="0">
                <a:latin typeface="Times New Roman" panose="020206030504050203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a:t>
            </a:r>
          </a:p>
          <a:p>
            <a:pPr marL="342900" indent="-342900"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Perform data preprocessing, including cleaning, normalization, feature selection, and encoding of network traffic attributes.</a:t>
            </a:r>
          </a:p>
          <a:p>
            <a:pPr fontAlgn="base"/>
            <a:endParaRPr lang="en-IN" sz="2400" dirty="0">
              <a:latin typeface="Times New Roman" panose="02020603050405020304" pitchFamily="18" charset="0"/>
              <a:cs typeface="Times New Roman" panose="02020603050405020304" pitchFamily="18" charset="0"/>
            </a:endParaRPr>
          </a:p>
          <a:p>
            <a:pPr fontAlgn="base"/>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2. Environment Design</a:t>
            </a:r>
          </a:p>
          <a:p>
            <a:pPr fontAlgn="base"/>
            <a:r>
              <a:rPr lang="en-IN" sz="2400" dirty="0">
                <a:latin typeface="Times New Roman" panose="02020603050405020304" pitchFamily="18" charset="0"/>
                <a:cs typeface="Times New Roman" panose="02020603050405020304" pitchFamily="18" charset="0"/>
              </a:rPr>
              <a:t>Develop a simulated cyber environment representing network states.</a:t>
            </a:r>
          </a:p>
          <a:p>
            <a:pPr fontAlgn="base"/>
            <a:r>
              <a:rPr lang="en-IN" sz="2400" dirty="0">
                <a:latin typeface="Times New Roman" panose="02020603050405020304" pitchFamily="18" charset="0"/>
                <a:cs typeface="Times New Roman" panose="02020603050405020304" pitchFamily="18" charset="0"/>
              </a:rPr>
              <a:t>Define:</a:t>
            </a:r>
          </a:p>
          <a:p>
            <a:pPr marL="800100" lvl="1" indent="-342900" fontAlgn="base">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State Space:</a:t>
            </a:r>
            <a:r>
              <a:rPr lang="en-IN" sz="2400" dirty="0">
                <a:latin typeface="Times New Roman" panose="02020603050405020304" pitchFamily="18" charset="0"/>
                <a:cs typeface="Times New Roman" panose="02020603050405020304" pitchFamily="18" charset="0"/>
              </a:rPr>
              <a:t> Network traffic features, system logs, security alerts.</a:t>
            </a:r>
          </a:p>
          <a:p>
            <a:pPr marL="800100" lvl="1" indent="-342900" fontAlgn="base">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Action Space:</a:t>
            </a:r>
            <a:r>
              <a:rPr lang="en-IN" sz="2400" dirty="0">
                <a:latin typeface="Times New Roman" panose="02020603050405020304" pitchFamily="18" charset="0"/>
                <a:cs typeface="Times New Roman" panose="02020603050405020304" pitchFamily="18" charset="0"/>
              </a:rPr>
              <a:t> Ignore, Investigate, Raise Alert, Block Source.</a:t>
            </a:r>
          </a:p>
          <a:p>
            <a:pPr marL="800100" lvl="1" indent="-342900" fontAlgn="base">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Reward Function:</a:t>
            </a:r>
            <a:r>
              <a:rPr lang="en-IN" sz="2400" dirty="0">
                <a:latin typeface="Times New Roman" panose="02020603050405020304" pitchFamily="18" charset="0"/>
                <a:cs typeface="Times New Roman" panose="02020603050405020304" pitchFamily="18" charset="0"/>
              </a:rPr>
              <a:t> Positive rewards for correct threat identification and appropriate responses; penalties for false alarms and missed attacks.</a:t>
            </a:r>
          </a:p>
          <a:p>
            <a:pPr marL="800100" lvl="1" indent="-342900" fontAlgn="base">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3. Reinforcement Learning Model Development</a:t>
            </a:r>
          </a:p>
          <a:p>
            <a:pPr marL="342900"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Implement a Reinforcement Learning algorithm such as </a:t>
            </a:r>
            <a:r>
              <a:rPr lang="en-IN" sz="2400" b="1" dirty="0">
                <a:latin typeface="Times New Roman" panose="02020603050405020304" pitchFamily="18" charset="0"/>
                <a:cs typeface="Times New Roman" panose="02020603050405020304" pitchFamily="18" charset="0"/>
              </a:rPr>
              <a:t>Deep Q-Network (DQN)</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Proximal Policy Optimization (PPO)</a:t>
            </a:r>
            <a:r>
              <a:rPr lang="en-IN" sz="2400" dirty="0">
                <a:latin typeface="Times New Roman" panose="02020603050405020304" pitchFamily="18" charset="0"/>
                <a:cs typeface="Times New Roman" panose="02020603050405020304" pitchFamily="18" charset="0"/>
              </a:rPr>
              <a:t>.</a:t>
            </a:r>
          </a:p>
          <a:p>
            <a:pPr marL="342900"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Train the agent through iterative interactions with the simulated environment to learn optimal threat hunting policies.</a:t>
            </a:r>
          </a:p>
          <a:p>
            <a:pPr lvl="1" fontAlgn="base"/>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5425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5EFF-AA05-F9FE-6E6B-869D8C56C92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F21286-988A-78E1-EB8E-A2C89B6A541B}"/>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a:p>
        </p:txBody>
      </p:sp>
      <p:sp>
        <p:nvSpPr>
          <p:cNvPr id="5" name="TextBox 5">
            <a:extLst>
              <a:ext uri="{FF2B5EF4-FFF2-40B4-BE49-F238E27FC236}">
                <a16:creationId xmlns:a16="http://schemas.microsoft.com/office/drawing/2014/main" id="{1138AF0E-EF03-2862-C08C-B42CB7D38644}"/>
              </a:ext>
            </a:extLst>
          </p:cNvPr>
          <p:cNvSpPr txBox="1"/>
          <p:nvPr/>
        </p:nvSpPr>
        <p:spPr>
          <a:xfrm>
            <a:off x="6881095" y="523939"/>
            <a:ext cx="4449610" cy="820738"/>
          </a:xfrm>
          <a:prstGeom prst="rect">
            <a:avLst/>
          </a:prstGeom>
        </p:spPr>
        <p:txBody>
          <a:bodyPr lIns="0" tIns="0" rIns="0" bIns="0" rtlCol="0" anchor="t">
            <a:spAutoFit/>
          </a:bodyPr>
          <a:lstStyle/>
          <a:p>
            <a:pPr algn="l">
              <a:lnSpc>
                <a:spcPts val="6415"/>
              </a:lnSpc>
            </a:pPr>
            <a:r>
              <a:rPr lang="en-US" sz="5800" b="1" dirty="0">
                <a:solidFill>
                  <a:srgbClr val="000000"/>
                </a:solidFill>
                <a:latin typeface="Times New Roman Bold"/>
                <a:ea typeface="Times New Roman Bold"/>
                <a:cs typeface="Times New Roman Bold"/>
                <a:sym typeface="Times New Roman Bold"/>
              </a:rPr>
              <a:t>Methodology</a:t>
            </a:r>
          </a:p>
        </p:txBody>
      </p:sp>
      <p:sp>
        <p:nvSpPr>
          <p:cNvPr id="3" name="Rectangle 2">
            <a:extLst>
              <a:ext uri="{FF2B5EF4-FFF2-40B4-BE49-F238E27FC236}">
                <a16:creationId xmlns:a16="http://schemas.microsoft.com/office/drawing/2014/main" id="{6795D473-9C41-DFFC-E177-DACA29CE18AA}"/>
              </a:ext>
            </a:extLst>
          </p:cNvPr>
          <p:cNvSpPr/>
          <p:nvPr/>
        </p:nvSpPr>
        <p:spPr>
          <a:xfrm>
            <a:off x="914400" y="1638300"/>
            <a:ext cx="16840200" cy="7772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2400" b="1" dirty="0">
                <a:latin typeface="Times New Roman" panose="02020603050405020304" pitchFamily="18" charset="0"/>
                <a:cs typeface="Times New Roman" panose="02020603050405020304" pitchFamily="18" charset="0"/>
              </a:rPr>
              <a:t>4. Performance Evaluation</a:t>
            </a:r>
          </a:p>
          <a:p>
            <a:pPr algn="just" fontAlgn="base"/>
            <a:r>
              <a:rPr lang="en-IN" sz="2400" dirty="0">
                <a:latin typeface="Times New Roman" panose="02020603050405020304" pitchFamily="18" charset="0"/>
                <a:cs typeface="Times New Roman" panose="02020603050405020304" pitchFamily="18" charset="0"/>
              </a:rPr>
              <a:t>Compare the proposed RL-based framework with traditional rule-based or machine learning-based detection methods.</a:t>
            </a:r>
          </a:p>
          <a:p>
            <a:pPr algn="just" fontAlgn="base"/>
            <a:r>
              <a:rPr lang="en-IN" sz="2400" dirty="0">
                <a:latin typeface="Times New Roman" panose="02020603050405020304" pitchFamily="18" charset="0"/>
                <a:cs typeface="Times New Roman" panose="02020603050405020304" pitchFamily="18" charset="0"/>
              </a:rPr>
              <a:t>Evaluate using metrics including:</a:t>
            </a:r>
          </a:p>
          <a:p>
            <a:pPr marL="800100" lvl="1"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Detection Accuracy</a:t>
            </a:r>
          </a:p>
          <a:p>
            <a:pPr marL="800100" lvl="1"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Precision</a:t>
            </a:r>
          </a:p>
          <a:p>
            <a:pPr marL="800100" lvl="1"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Recall</a:t>
            </a:r>
          </a:p>
          <a:p>
            <a:pPr marL="800100" lvl="1"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F1-score</a:t>
            </a:r>
          </a:p>
          <a:p>
            <a:pPr marL="800100" lvl="1"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False Positive Rate</a:t>
            </a:r>
          </a:p>
          <a:p>
            <a:pPr marL="800100" lvl="1"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Mean Time to Detect (MTTD)</a:t>
            </a:r>
          </a:p>
          <a:p>
            <a:pPr marL="800100" lvl="1"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Cumulative Reward</a:t>
            </a:r>
          </a:p>
          <a:p>
            <a:pPr lvl="1" algn="just" fontAlgn="base"/>
            <a:endParaRPr lang="en-IN" sz="2400" dirty="0">
              <a:latin typeface="Times New Roman" panose="02020603050405020304" pitchFamily="18" charset="0"/>
              <a:cs typeface="Times New Roman" panose="02020603050405020304" pitchFamily="18" charset="0"/>
            </a:endParaRPr>
          </a:p>
          <a:p>
            <a:pPr lvl="1" algn="just" fontAlgn="base"/>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5. Visualization and Deployment</a:t>
            </a:r>
          </a:p>
          <a:p>
            <a:pPr marL="342900"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dashboard to visualize detected threats, agent decisions, system performance, and threat prioritization.</a:t>
            </a:r>
          </a:p>
          <a:p>
            <a:pPr marL="342900" indent="-342900" algn="just" fontAlgn="base">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Demonstrate the agent's capability to autonomously identify and respond to simulated cyber threats. </a:t>
            </a:r>
          </a:p>
          <a:p>
            <a:pPr marL="342900" indent="-342900" algn="just" fontAlgn="base">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5083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D21A3-86F8-2119-9A5B-6A5554CB05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3E35DA4-57AC-4EA4-F921-B1310B3D6591}"/>
              </a:ext>
            </a:extLst>
          </p:cNvPr>
          <p:cNvSpPr/>
          <p:nvPr/>
        </p:nvSpPr>
        <p:spPr>
          <a:xfrm>
            <a:off x="19050" y="-38100"/>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8" name="TextBox 5">
            <a:extLst>
              <a:ext uri="{FF2B5EF4-FFF2-40B4-BE49-F238E27FC236}">
                <a16:creationId xmlns:a16="http://schemas.microsoft.com/office/drawing/2014/main" id="{E3119159-2401-E3C5-BBC7-0185884D656D}"/>
              </a:ext>
            </a:extLst>
          </p:cNvPr>
          <p:cNvSpPr txBox="1"/>
          <p:nvPr/>
        </p:nvSpPr>
        <p:spPr>
          <a:xfrm>
            <a:off x="5943600" y="647700"/>
            <a:ext cx="7162800" cy="820738"/>
          </a:xfrm>
          <a:prstGeom prst="rect">
            <a:avLst/>
          </a:prstGeom>
        </p:spPr>
        <p:txBody>
          <a:bodyPr wrap="square" lIns="0" tIns="0" rIns="0" bIns="0" rtlCol="0" anchor="t">
            <a:spAutoFit/>
          </a:bodyPr>
          <a:lstStyle/>
          <a:p>
            <a:pPr algn="l">
              <a:lnSpc>
                <a:spcPts val="6415"/>
              </a:lnSpc>
            </a:pPr>
            <a:r>
              <a:rPr lang="en-US" sz="5800" b="1" dirty="0">
                <a:solidFill>
                  <a:srgbClr val="000000"/>
                </a:solidFill>
                <a:latin typeface="Times New Roman Bold"/>
                <a:ea typeface="Times New Roman Bold"/>
                <a:cs typeface="Times New Roman Bold"/>
                <a:sym typeface="Times New Roman Bold"/>
              </a:rPr>
              <a:t>Data Flow Diagram</a:t>
            </a:r>
          </a:p>
        </p:txBody>
      </p:sp>
      <p:pic>
        <p:nvPicPr>
          <p:cNvPr id="4" name="Picture 3">
            <a:extLst>
              <a:ext uri="{FF2B5EF4-FFF2-40B4-BE49-F238E27FC236}">
                <a16:creationId xmlns:a16="http://schemas.microsoft.com/office/drawing/2014/main" id="{31B43656-0039-9529-5B5F-6DC6048E3E48}"/>
              </a:ext>
            </a:extLst>
          </p:cNvPr>
          <p:cNvPicPr>
            <a:picLocks noChangeAspect="1"/>
          </p:cNvPicPr>
          <p:nvPr/>
        </p:nvPicPr>
        <p:blipFill>
          <a:blip r:embed="rId3">
            <a:extLst>
              <a:ext uri="{28A0092B-C50C-407E-A947-70E740481C1C}">
                <a14:useLocalDpi xmlns:a14="http://schemas.microsoft.com/office/drawing/2010/main" val="0"/>
              </a:ext>
            </a:extLst>
          </a:blip>
          <a:srcRect t="6296"/>
          <a:stretch>
            <a:fillRect/>
          </a:stretch>
        </p:blipFill>
        <p:spPr>
          <a:xfrm>
            <a:off x="842928" y="1670957"/>
            <a:ext cx="16602144" cy="8001000"/>
          </a:xfrm>
          <a:prstGeom prst="rect">
            <a:avLst/>
          </a:prstGeom>
        </p:spPr>
      </p:pic>
      <p:sp>
        <p:nvSpPr>
          <p:cNvPr id="5" name="Rectangle 4">
            <a:extLst>
              <a:ext uri="{FF2B5EF4-FFF2-40B4-BE49-F238E27FC236}">
                <a16:creationId xmlns:a16="http://schemas.microsoft.com/office/drawing/2014/main" id="{3ECB9219-7814-5336-30C7-309A55C37026}"/>
              </a:ext>
            </a:extLst>
          </p:cNvPr>
          <p:cNvSpPr/>
          <p:nvPr/>
        </p:nvSpPr>
        <p:spPr>
          <a:xfrm>
            <a:off x="842928" y="5829300"/>
            <a:ext cx="3424272" cy="25146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n>
                <a:solidFill>
                  <a:schemeClr val="bg1"/>
                </a:solidFill>
              </a:ln>
            </a:endParaRPr>
          </a:p>
        </p:txBody>
      </p:sp>
    </p:spTree>
    <p:extLst>
      <p:ext uri="{BB962C8B-B14F-4D97-AF65-F5344CB8AC3E}">
        <p14:creationId xmlns:p14="http://schemas.microsoft.com/office/powerpoint/2010/main" val="3073099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25C75-CC76-E5EF-E1CF-F52355CC84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ECE646-CCAC-7566-7613-911C934A6C12}"/>
              </a:ext>
            </a:extLst>
          </p:cNvPr>
          <p:cNvSpPr/>
          <p:nvPr/>
        </p:nvSpPr>
        <p:spPr>
          <a:xfrm>
            <a:off x="20782" y="0"/>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3" name="TextBox 4">
            <a:extLst>
              <a:ext uri="{FF2B5EF4-FFF2-40B4-BE49-F238E27FC236}">
                <a16:creationId xmlns:a16="http://schemas.microsoft.com/office/drawing/2014/main" id="{4CA66F8D-9773-4A70-352F-9E574CECD9DD}"/>
              </a:ext>
            </a:extLst>
          </p:cNvPr>
          <p:cNvSpPr txBox="1"/>
          <p:nvPr/>
        </p:nvSpPr>
        <p:spPr>
          <a:xfrm>
            <a:off x="3867150" y="495300"/>
            <a:ext cx="9772650" cy="884858"/>
          </a:xfrm>
          <a:prstGeom prst="rect">
            <a:avLst/>
          </a:prstGeom>
        </p:spPr>
        <p:txBody>
          <a:bodyPr wrap="square" lIns="0" tIns="0" rIns="0" bIns="0" rtlCol="0" anchor="t">
            <a:spAutoFit/>
          </a:bodyPr>
          <a:lstStyle/>
          <a:p>
            <a:pPr algn="ctr">
              <a:lnSpc>
                <a:spcPts val="6949"/>
              </a:lnSpc>
            </a:pPr>
            <a:r>
              <a:rPr lang="en-US" sz="5800" b="1" dirty="0">
                <a:solidFill>
                  <a:srgbClr val="000000"/>
                </a:solidFill>
                <a:latin typeface="Times New Roman Bold"/>
                <a:ea typeface="Times New Roman Bold"/>
                <a:cs typeface="Times New Roman Bold"/>
                <a:sym typeface="Times New Roman Bold"/>
              </a:rPr>
              <a:t>References</a:t>
            </a:r>
          </a:p>
        </p:txBody>
      </p:sp>
      <p:sp>
        <p:nvSpPr>
          <p:cNvPr id="8" name="TextBox 7">
            <a:extLst>
              <a:ext uri="{FF2B5EF4-FFF2-40B4-BE49-F238E27FC236}">
                <a16:creationId xmlns:a16="http://schemas.microsoft.com/office/drawing/2014/main" id="{EF46FCB7-7D98-619B-B121-E63F6BF8EF85}"/>
              </a:ext>
            </a:extLst>
          </p:cNvPr>
          <p:cNvSpPr txBox="1"/>
          <p:nvPr/>
        </p:nvSpPr>
        <p:spPr>
          <a:xfrm>
            <a:off x="602673" y="1875458"/>
            <a:ext cx="17124218" cy="6500306"/>
          </a:xfrm>
          <a:prstGeom prst="rect">
            <a:avLst/>
          </a:prstGeom>
          <a:noFill/>
        </p:spPr>
        <p:txBody>
          <a:bodyPr wrap="square" rtlCol="0">
            <a:spAutoFit/>
          </a:bodyPr>
          <a:lstStyle/>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[1] </a:t>
            </a:r>
            <a:r>
              <a:rPr lang="en-IN" sz="2000" i="1" dirty="0">
                <a:solidFill>
                  <a:schemeClr val="dk1"/>
                </a:solidFill>
                <a:latin typeface="Times New Roman" panose="02020603050405020304" pitchFamily="18" charset="0"/>
                <a:cs typeface="Times New Roman" panose="02020603050405020304" pitchFamily="18" charset="0"/>
              </a:rPr>
              <a:t>M. Niveditha, M. Swetha, M. Siva Rama Krishna, S. Rashmi, B. Pallavi, and M. Lakshmi Neelima, “Smart Cyber Threat Intelligence System for Autonomous Threat Aggregation and Reporting,” 2026 International Conference on AI-Driven Innovations &amp; Applications (IC-AIDA), 2026. </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[2] </a:t>
            </a:r>
            <a:r>
              <a:rPr lang="en-IN" sz="2000" i="1" dirty="0">
                <a:solidFill>
                  <a:schemeClr val="dk1"/>
                </a:solidFill>
                <a:latin typeface="Times New Roman" panose="02020603050405020304" pitchFamily="18" charset="0"/>
                <a:cs typeface="Times New Roman" panose="02020603050405020304" pitchFamily="18" charset="0"/>
              </a:rPr>
              <a:t>V. Raju, S. </a:t>
            </a:r>
            <a:r>
              <a:rPr lang="en-IN" sz="2000" i="1" dirty="0" err="1">
                <a:solidFill>
                  <a:schemeClr val="dk1"/>
                </a:solidFill>
                <a:latin typeface="Times New Roman" panose="02020603050405020304" pitchFamily="18" charset="0"/>
                <a:cs typeface="Times New Roman" panose="02020603050405020304" pitchFamily="18" charset="0"/>
              </a:rPr>
              <a:t>Ramzani</a:t>
            </a:r>
            <a:r>
              <a:rPr lang="en-IN" sz="2000" i="1" dirty="0">
                <a:solidFill>
                  <a:schemeClr val="dk1"/>
                </a:solidFill>
                <a:latin typeface="Times New Roman" panose="02020603050405020304" pitchFamily="18" charset="0"/>
                <a:cs typeface="Times New Roman" panose="02020603050405020304" pitchFamily="18" charset="0"/>
              </a:rPr>
              <a:t>, S. F. Ling, M. V. et al., “AI-Driven Cloud Security: Adaptive Threat Detection and Autonomous </a:t>
            </a:r>
            <a:r>
              <a:rPr lang="en-IN" sz="2000" i="1" dirty="0" err="1">
                <a:solidFill>
                  <a:schemeClr val="dk1"/>
                </a:solidFill>
                <a:latin typeface="Times New Roman" panose="02020603050405020304" pitchFamily="18" charset="0"/>
                <a:cs typeface="Times New Roman" panose="02020603050405020304" pitchFamily="18" charset="0"/>
              </a:rPr>
              <a:t>Defense</a:t>
            </a:r>
            <a:r>
              <a:rPr lang="en-IN" sz="2000" i="1" dirty="0">
                <a:solidFill>
                  <a:schemeClr val="dk1"/>
                </a:solidFill>
                <a:latin typeface="Times New Roman" panose="02020603050405020304" pitchFamily="18" charset="0"/>
                <a:cs typeface="Times New Roman" panose="02020603050405020304" pitchFamily="18" charset="0"/>
              </a:rPr>
              <a:t> Mechanisms,” 2026 Innovations in Machine, Engineering, and Digital Conference (IMED), 2026. </a:t>
            </a:r>
            <a:r>
              <a:rPr lang="en-IN" sz="2000" i="1" dirty="0" err="1">
                <a:latin typeface="Times New Roman" panose="02020603050405020304" pitchFamily="18" charset="0"/>
                <a:cs typeface="Times New Roman" panose="02020603050405020304" pitchFamily="18" charset="0"/>
              </a:rPr>
              <a:t>doi</a:t>
            </a:r>
            <a:r>
              <a:rPr lang="en-IN" sz="2000" i="1" dirty="0">
                <a:solidFill>
                  <a:schemeClr val="dk1"/>
                </a:solidFill>
                <a:latin typeface="Times New Roman" panose="02020603050405020304" pitchFamily="18" charset="0"/>
                <a:cs typeface="Times New Roman" panose="02020603050405020304" pitchFamily="18" charset="0"/>
              </a:rPr>
              <a:t>: 10.1109/IMED68921.2026.11484140</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[3] </a:t>
            </a:r>
            <a:r>
              <a:rPr lang="en-IN" sz="2000" i="1" dirty="0">
                <a:solidFill>
                  <a:schemeClr val="dk1"/>
                </a:solidFill>
                <a:latin typeface="Times New Roman" panose="02020603050405020304" pitchFamily="18" charset="0"/>
                <a:cs typeface="Times New Roman" panose="02020603050405020304" pitchFamily="18" charset="0"/>
              </a:rPr>
              <a:t>A. Sharma, M. Sharma, and B. Tripathy, “Agentic AI-Driven Machine Learning Framework for Proactive Cyber-Attack Detection and Early Threat Warning Systems,” 2026 International Conference on Smart Electronic Devices and Intelligent Systems (ICSEDIS), pp. 1547–1552, 2026.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a:t>
            </a:r>
            <a:r>
              <a:rPr lang="en-IN" sz="2000" i="1" dirty="0">
                <a:solidFill>
                  <a:schemeClr val="dk1"/>
                </a:solidFill>
                <a:latin typeface="Times New Roman" panose="02020603050405020304" pitchFamily="18" charset="0"/>
                <a:cs typeface="Times New Roman" panose="02020603050405020304" pitchFamily="18" charset="0"/>
              </a:rPr>
              <a:t>: 10.1109/ICSEDIS68157.2026.11518252</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[4] </a:t>
            </a:r>
            <a:r>
              <a:rPr lang="en-IN" sz="2000" i="1" dirty="0">
                <a:solidFill>
                  <a:schemeClr val="dk1"/>
                </a:solidFill>
                <a:latin typeface="Times New Roman" panose="02020603050405020304" pitchFamily="18" charset="0"/>
                <a:cs typeface="Times New Roman" panose="02020603050405020304" pitchFamily="18" charset="0"/>
              </a:rPr>
              <a:t>M. Cui, Z. Jiang, Y. Yao, C. Ma, et al., “</a:t>
            </a:r>
            <a:r>
              <a:rPr lang="en-IN" sz="2000" i="1" dirty="0" err="1">
                <a:solidFill>
                  <a:schemeClr val="dk1"/>
                </a:solidFill>
                <a:latin typeface="Times New Roman" panose="02020603050405020304" pitchFamily="18" charset="0"/>
                <a:cs typeface="Times New Roman" panose="02020603050405020304" pitchFamily="18" charset="0"/>
              </a:rPr>
              <a:t>AGLHunter</a:t>
            </a:r>
            <a:r>
              <a:rPr lang="en-IN" sz="2000" i="1" dirty="0">
                <a:solidFill>
                  <a:schemeClr val="dk1"/>
                </a:solidFill>
                <a:latin typeface="Times New Roman" panose="02020603050405020304" pitchFamily="18" charset="0"/>
                <a:cs typeface="Times New Roman" panose="02020603050405020304" pitchFamily="18" charset="0"/>
              </a:rPr>
              <a:t>: Automated Threat Hunting Using In-Context Learning-Enhanced LLM,” 2025 28th International Conference on Computer Supported Cooperative Work in Design (CSCWD), 2025. </a:t>
            </a:r>
            <a:r>
              <a:rPr lang="en-IN" sz="2000" i="1" dirty="0" err="1">
                <a:latin typeface="Times New Roman" panose="02020603050405020304" pitchFamily="18" charset="0"/>
                <a:cs typeface="Times New Roman" panose="02020603050405020304" pitchFamily="18" charset="0"/>
              </a:rPr>
              <a:t>doi</a:t>
            </a:r>
            <a:r>
              <a:rPr lang="en-IN" sz="2000" i="1" dirty="0">
                <a:solidFill>
                  <a:schemeClr val="dk1"/>
                </a:solidFill>
                <a:latin typeface="Times New Roman" panose="02020603050405020304" pitchFamily="18" charset="0"/>
                <a:cs typeface="Times New Roman" panose="02020603050405020304" pitchFamily="18" charset="0"/>
              </a:rPr>
              <a:t>: 10.1109/CSCWD64889.2025.11033364</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[5] </a:t>
            </a:r>
            <a:r>
              <a:rPr lang="en-IN" sz="2000" i="1" dirty="0">
                <a:solidFill>
                  <a:schemeClr val="dk1"/>
                </a:solidFill>
                <a:latin typeface="Times New Roman" panose="02020603050405020304" pitchFamily="18" charset="0"/>
                <a:cs typeface="Times New Roman" panose="02020603050405020304" pitchFamily="18" charset="0"/>
              </a:rPr>
              <a:t>A. Sheth, A. Patel, H. </a:t>
            </a:r>
            <a:r>
              <a:rPr lang="en-IN" sz="2000" i="1" dirty="0" err="1">
                <a:solidFill>
                  <a:schemeClr val="dk1"/>
                </a:solidFill>
                <a:latin typeface="Times New Roman" panose="02020603050405020304" pitchFamily="18" charset="0"/>
                <a:cs typeface="Times New Roman" panose="02020603050405020304" pitchFamily="18" charset="0"/>
              </a:rPr>
              <a:t>Ragothaman</a:t>
            </a:r>
            <a:r>
              <a:rPr lang="en-IN" sz="2000" i="1" dirty="0">
                <a:solidFill>
                  <a:schemeClr val="dk1"/>
                </a:solidFill>
                <a:latin typeface="Times New Roman" panose="02020603050405020304" pitchFamily="18" charset="0"/>
                <a:cs typeface="Times New Roman" panose="02020603050405020304" pitchFamily="18" charset="0"/>
              </a:rPr>
              <a:t>, C. Upadhyay, B. Patil, and S. K. Udayakumar, “Agentic AI for Autonomous Cyber Threat Hunting and Adaptive </a:t>
            </a:r>
            <a:r>
              <a:rPr lang="en-IN" sz="2000" i="1" dirty="0" err="1">
                <a:solidFill>
                  <a:schemeClr val="dk1"/>
                </a:solidFill>
                <a:latin typeface="Times New Roman" panose="02020603050405020304" pitchFamily="18" charset="0"/>
                <a:cs typeface="Times New Roman" panose="02020603050405020304" pitchFamily="18" charset="0"/>
              </a:rPr>
              <a:t>Defense</a:t>
            </a:r>
            <a:r>
              <a:rPr lang="en-IN" sz="2000" i="1" dirty="0">
                <a:solidFill>
                  <a:schemeClr val="dk1"/>
                </a:solidFill>
                <a:latin typeface="Times New Roman" panose="02020603050405020304" pitchFamily="18" charset="0"/>
                <a:cs typeface="Times New Roman" panose="02020603050405020304" pitchFamily="18" charset="0"/>
              </a:rPr>
              <a:t> in Dynamic Security Environments,” 2025 IEEE International Conference on Electro/Information Technology (EIT), pp. 316–321, 2025.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a:t>
            </a:r>
            <a:r>
              <a:rPr lang="en-IN" sz="2000" i="1" dirty="0">
                <a:solidFill>
                  <a:schemeClr val="dk1"/>
                </a:solidFill>
                <a:latin typeface="Times New Roman" panose="02020603050405020304" pitchFamily="18" charset="0"/>
                <a:cs typeface="Times New Roman" panose="02020603050405020304" pitchFamily="18" charset="0"/>
              </a:rPr>
              <a:t>: 10.1109/eIT64391.2025.11103697</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[6] </a:t>
            </a:r>
            <a:r>
              <a:rPr lang="en-IN" sz="2000" i="1" dirty="0">
                <a:solidFill>
                  <a:schemeClr val="dk1"/>
                </a:solidFill>
                <a:latin typeface="Times New Roman" panose="02020603050405020304" pitchFamily="18" charset="0"/>
                <a:cs typeface="Times New Roman" panose="02020603050405020304" pitchFamily="18" charset="0"/>
              </a:rPr>
              <a:t>V. V. Bazhenov, “Multi-Agent Model-Based Deep Reinforcement Learning: Testing the Method in Grid-World Environments,” 2025 7th International Youth Conference on Radio Electronics, Electrical and Power Engineering (REEPE), 2025. </a:t>
            </a:r>
            <a:r>
              <a:rPr lang="en-IN" sz="2000" i="1" dirty="0" err="1">
                <a:latin typeface="Times New Roman" panose="02020603050405020304" pitchFamily="18" charset="0"/>
                <a:cs typeface="Times New Roman" panose="02020603050405020304" pitchFamily="18" charset="0"/>
              </a:rPr>
              <a:t>doi</a:t>
            </a:r>
            <a:r>
              <a:rPr lang="en-IN" sz="2000" i="1" dirty="0">
                <a:solidFill>
                  <a:schemeClr val="dk1"/>
                </a:solidFill>
                <a:latin typeface="Times New Roman" panose="02020603050405020304" pitchFamily="18" charset="0"/>
                <a:cs typeface="Times New Roman" panose="02020603050405020304" pitchFamily="18" charset="0"/>
              </a:rPr>
              <a:t>: 10.1109/REEPE63962.2025.10970765</a:t>
            </a:r>
          </a:p>
        </p:txBody>
      </p:sp>
    </p:spTree>
    <p:extLst>
      <p:ext uri="{BB962C8B-B14F-4D97-AF65-F5344CB8AC3E}">
        <p14:creationId xmlns:p14="http://schemas.microsoft.com/office/powerpoint/2010/main" val="3039837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9C7D9-C192-F04E-B259-436B72F50C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53B4A04-1C2F-D15A-A522-6E690073C038}"/>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3" name="TextBox 4">
            <a:extLst>
              <a:ext uri="{FF2B5EF4-FFF2-40B4-BE49-F238E27FC236}">
                <a16:creationId xmlns:a16="http://schemas.microsoft.com/office/drawing/2014/main" id="{7AD887F1-D0A5-3E1E-BB91-2DD0EE6D185E}"/>
              </a:ext>
            </a:extLst>
          </p:cNvPr>
          <p:cNvSpPr txBox="1"/>
          <p:nvPr/>
        </p:nvSpPr>
        <p:spPr>
          <a:xfrm>
            <a:off x="3867150" y="495300"/>
            <a:ext cx="9772650" cy="884858"/>
          </a:xfrm>
          <a:prstGeom prst="rect">
            <a:avLst/>
          </a:prstGeom>
        </p:spPr>
        <p:txBody>
          <a:bodyPr wrap="square" lIns="0" tIns="0" rIns="0" bIns="0" rtlCol="0" anchor="t">
            <a:spAutoFit/>
          </a:bodyPr>
          <a:lstStyle/>
          <a:p>
            <a:pPr algn="ctr">
              <a:lnSpc>
                <a:spcPts val="6949"/>
              </a:lnSpc>
            </a:pPr>
            <a:r>
              <a:rPr lang="en-US" sz="5800" b="1" dirty="0">
                <a:solidFill>
                  <a:srgbClr val="000000"/>
                </a:solidFill>
                <a:latin typeface="Times New Roman Bold"/>
                <a:ea typeface="Times New Roman Bold"/>
                <a:cs typeface="Times New Roman Bold"/>
                <a:sym typeface="Times New Roman Bold"/>
              </a:rPr>
              <a:t>References</a:t>
            </a:r>
          </a:p>
        </p:txBody>
      </p:sp>
      <p:sp>
        <p:nvSpPr>
          <p:cNvPr id="4" name="TextBox 3">
            <a:extLst>
              <a:ext uri="{FF2B5EF4-FFF2-40B4-BE49-F238E27FC236}">
                <a16:creationId xmlns:a16="http://schemas.microsoft.com/office/drawing/2014/main" id="{5B51E4D9-20A9-EC80-1488-9A4112B8EC4E}"/>
              </a:ext>
            </a:extLst>
          </p:cNvPr>
          <p:cNvSpPr txBox="1"/>
          <p:nvPr/>
        </p:nvSpPr>
        <p:spPr>
          <a:xfrm>
            <a:off x="685800" y="1850420"/>
            <a:ext cx="16459200" cy="6961970"/>
          </a:xfrm>
          <a:prstGeom prst="rect">
            <a:avLst/>
          </a:prstGeom>
          <a:noFill/>
        </p:spPr>
        <p:txBody>
          <a:bodyPr wrap="square" rtlCol="0">
            <a:spAutoFit/>
          </a:bodyPr>
          <a:lstStyle/>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[7] </a:t>
            </a:r>
            <a:r>
              <a:rPr lang="en-IN" sz="2000" i="1" dirty="0">
                <a:solidFill>
                  <a:schemeClr val="dk1"/>
                </a:solidFill>
                <a:latin typeface="Times New Roman" panose="02020603050405020304" pitchFamily="18" charset="0"/>
                <a:cs typeface="Times New Roman" panose="02020603050405020304" pitchFamily="18" charset="0"/>
              </a:rPr>
              <a:t>A. Rafique and B. D. Marsden, “Automated LLM Deployment and Evaluation: A Cloud-Native Approach Using LLM-as-a-Judge,” 2025 IEEE 18th International Conference on Cloud Computing (CLOUD), pp. 448–450, 2025.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a:t>
            </a:r>
            <a:r>
              <a:rPr lang="en-IN" sz="2000" i="1" dirty="0">
                <a:solidFill>
                  <a:schemeClr val="dk1"/>
                </a:solidFill>
                <a:latin typeface="Times New Roman" panose="02020603050405020304" pitchFamily="18" charset="0"/>
                <a:cs typeface="Times New Roman" panose="02020603050405020304" pitchFamily="18" charset="0"/>
              </a:rPr>
              <a:t>: 10.1109/CLOUD67622.2025.00053</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[8] </a:t>
            </a:r>
            <a:r>
              <a:rPr lang="en-IN" sz="2000" i="1" dirty="0">
                <a:solidFill>
                  <a:schemeClr val="dk1"/>
                </a:solidFill>
                <a:latin typeface="Times New Roman" panose="02020603050405020304" pitchFamily="18" charset="0"/>
                <a:cs typeface="Times New Roman" panose="02020603050405020304" pitchFamily="18" charset="0"/>
              </a:rPr>
              <a:t>V. Malik, K. Huang, and A. Dawson, AI-Native LLM Security: Threats, </a:t>
            </a:r>
            <a:r>
              <a:rPr lang="en-IN" sz="2000" i="1" dirty="0" err="1">
                <a:solidFill>
                  <a:schemeClr val="dk1"/>
                </a:solidFill>
                <a:latin typeface="Times New Roman" panose="02020603050405020304" pitchFamily="18" charset="0"/>
                <a:cs typeface="Times New Roman" panose="02020603050405020304" pitchFamily="18" charset="0"/>
              </a:rPr>
              <a:t>Defenses</a:t>
            </a:r>
            <a:r>
              <a:rPr lang="en-IN" sz="2000" i="1" dirty="0">
                <a:solidFill>
                  <a:schemeClr val="dk1"/>
                </a:solidFill>
                <a:latin typeface="Times New Roman" panose="02020603050405020304" pitchFamily="18" charset="0"/>
                <a:cs typeface="Times New Roman" panose="02020603050405020304" pitchFamily="18" charset="0"/>
              </a:rPr>
              <a:t>, and Best Practices for Building Safe and Trustworthy AI, </a:t>
            </a:r>
            <a:r>
              <a:rPr lang="en-IN" sz="2000" i="1" dirty="0" err="1">
                <a:solidFill>
                  <a:schemeClr val="dk1"/>
                </a:solidFill>
                <a:latin typeface="Times New Roman" panose="02020603050405020304" pitchFamily="18" charset="0"/>
                <a:cs typeface="Times New Roman" panose="02020603050405020304" pitchFamily="18" charset="0"/>
              </a:rPr>
              <a:t>Packt</a:t>
            </a:r>
            <a:r>
              <a:rPr lang="en-IN" sz="2000" i="1" dirty="0">
                <a:solidFill>
                  <a:schemeClr val="dk1"/>
                </a:solidFill>
                <a:latin typeface="Times New Roman" panose="02020603050405020304" pitchFamily="18" charset="0"/>
                <a:cs typeface="Times New Roman" panose="02020603050405020304" pitchFamily="18" charset="0"/>
              </a:rPr>
              <a:t> Publishing, 2025. ISBN: 978-1-83620-375-9. </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[9] </a:t>
            </a:r>
            <a:r>
              <a:rPr lang="en-IN" sz="2000" i="1" dirty="0">
                <a:solidFill>
                  <a:schemeClr val="dk1"/>
                </a:solidFill>
                <a:latin typeface="Times New Roman" panose="02020603050405020304" pitchFamily="18" charset="0"/>
                <a:cs typeface="Times New Roman" panose="02020603050405020304" pitchFamily="18" charset="0"/>
              </a:rPr>
              <a:t>S. Shukla, M. </a:t>
            </a:r>
            <a:r>
              <a:rPr lang="en-IN" sz="2000" i="1" dirty="0" err="1">
                <a:solidFill>
                  <a:schemeClr val="dk1"/>
                </a:solidFill>
                <a:latin typeface="Times New Roman" panose="02020603050405020304" pitchFamily="18" charset="0"/>
                <a:cs typeface="Times New Roman" panose="02020603050405020304" pitchFamily="18" charset="0"/>
              </a:rPr>
              <a:t>Dachawar</a:t>
            </a:r>
            <a:r>
              <a:rPr lang="en-IN" sz="2000" i="1" dirty="0">
                <a:solidFill>
                  <a:schemeClr val="dk1"/>
                </a:solidFill>
                <a:latin typeface="Times New Roman" panose="02020603050405020304" pitchFamily="18" charset="0"/>
                <a:cs typeface="Times New Roman" panose="02020603050405020304" pitchFamily="18" charset="0"/>
              </a:rPr>
              <a:t>, H. </a:t>
            </a:r>
            <a:r>
              <a:rPr lang="en-IN" sz="2000" i="1" dirty="0" err="1">
                <a:solidFill>
                  <a:schemeClr val="dk1"/>
                </a:solidFill>
                <a:latin typeface="Times New Roman" panose="02020603050405020304" pitchFamily="18" charset="0"/>
                <a:cs typeface="Times New Roman" panose="02020603050405020304" pitchFamily="18" charset="0"/>
              </a:rPr>
              <a:t>Logade</a:t>
            </a:r>
            <a:r>
              <a:rPr lang="en-IN" sz="2000" i="1" dirty="0">
                <a:solidFill>
                  <a:schemeClr val="dk1"/>
                </a:solidFill>
                <a:latin typeface="Times New Roman" panose="02020603050405020304" pitchFamily="18" charset="0"/>
                <a:cs typeface="Times New Roman" panose="02020603050405020304" pitchFamily="18" charset="0"/>
              </a:rPr>
              <a:t>, and S. Kadu, “Self-Supervised Learning: The Core of Next-Gen Machine Learning and a Paradigm Shift in AI,” 2025 International Conference on Computational, Communication and Information Technology (ICCCIT), pp. 486–491, 2025.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a:t>
            </a:r>
            <a:r>
              <a:rPr lang="en-IN" sz="2000" i="1" dirty="0">
                <a:solidFill>
                  <a:schemeClr val="dk1"/>
                </a:solidFill>
                <a:latin typeface="Times New Roman" panose="02020603050405020304" pitchFamily="18" charset="0"/>
                <a:cs typeface="Times New Roman" panose="02020603050405020304" pitchFamily="18" charset="0"/>
              </a:rPr>
              <a:t>: 10.1109/ICCCIT62592.2025.10928142</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[10] </a:t>
            </a:r>
            <a:r>
              <a:rPr lang="en-IN" sz="2000" i="1" dirty="0">
                <a:solidFill>
                  <a:schemeClr val="dk1"/>
                </a:solidFill>
                <a:latin typeface="Times New Roman" panose="02020603050405020304" pitchFamily="18" charset="0"/>
                <a:cs typeface="Times New Roman" panose="02020603050405020304" pitchFamily="18" charset="0"/>
              </a:rPr>
              <a:t>L. Song, D. Guo, A. Wang, D. Li, F. Miao, and W. Sun, “Model-based Multi-agent Mean-field Reinforcement Learning Based on Conditional Generation Adversarial Network Algorithm,” 2025 IEEE/CIC International Conference on Communications in China (ICCC), pp. 1–6, 2025.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a:t>
            </a:r>
            <a:r>
              <a:rPr lang="en-IN" sz="2000" i="1" dirty="0">
                <a:solidFill>
                  <a:schemeClr val="dk1"/>
                </a:solidFill>
                <a:latin typeface="Times New Roman" panose="02020603050405020304" pitchFamily="18" charset="0"/>
                <a:cs typeface="Times New Roman" panose="02020603050405020304" pitchFamily="18" charset="0"/>
              </a:rPr>
              <a:t>: 10.1109/ICCC65529.2025.11149097</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[11] </a:t>
            </a:r>
            <a:r>
              <a:rPr lang="en-IN" sz="2000" i="1" dirty="0">
                <a:solidFill>
                  <a:schemeClr val="dk1"/>
                </a:solidFill>
                <a:latin typeface="Times New Roman" panose="02020603050405020304" pitchFamily="18" charset="0"/>
                <a:cs typeface="Times New Roman" panose="02020603050405020304" pitchFamily="18" charset="0"/>
              </a:rPr>
              <a:t>N. V. </a:t>
            </a:r>
            <a:r>
              <a:rPr lang="en-IN" sz="2000" i="1" dirty="0" err="1">
                <a:solidFill>
                  <a:schemeClr val="dk1"/>
                </a:solidFill>
                <a:latin typeface="Times New Roman" panose="02020603050405020304" pitchFamily="18" charset="0"/>
                <a:cs typeface="Times New Roman" panose="02020603050405020304" pitchFamily="18" charset="0"/>
              </a:rPr>
              <a:t>Janapareddy</a:t>
            </a:r>
            <a:r>
              <a:rPr lang="en-IN" sz="2000" i="1" dirty="0">
                <a:solidFill>
                  <a:schemeClr val="dk1"/>
                </a:solidFill>
                <a:latin typeface="Times New Roman" panose="02020603050405020304" pitchFamily="18" charset="0"/>
                <a:cs typeface="Times New Roman" panose="02020603050405020304" pitchFamily="18" charset="0"/>
              </a:rPr>
              <a:t>, A. R. </a:t>
            </a:r>
            <a:r>
              <a:rPr lang="en-IN" sz="2000" i="1" dirty="0" err="1">
                <a:solidFill>
                  <a:schemeClr val="dk1"/>
                </a:solidFill>
                <a:latin typeface="Times New Roman" panose="02020603050405020304" pitchFamily="18" charset="0"/>
                <a:cs typeface="Times New Roman" panose="02020603050405020304" pitchFamily="18" charset="0"/>
              </a:rPr>
              <a:t>Pothu</a:t>
            </a:r>
            <a:r>
              <a:rPr lang="en-IN" sz="2000" i="1" dirty="0">
                <a:solidFill>
                  <a:schemeClr val="dk1"/>
                </a:solidFill>
                <a:latin typeface="Times New Roman" panose="02020603050405020304" pitchFamily="18" charset="0"/>
                <a:cs typeface="Times New Roman" panose="02020603050405020304" pitchFamily="18" charset="0"/>
              </a:rPr>
              <a:t>, S. </a:t>
            </a:r>
            <a:r>
              <a:rPr lang="en-IN" sz="2000" i="1" dirty="0" err="1">
                <a:solidFill>
                  <a:schemeClr val="dk1"/>
                </a:solidFill>
                <a:latin typeface="Times New Roman" panose="02020603050405020304" pitchFamily="18" charset="0"/>
                <a:cs typeface="Times New Roman" panose="02020603050405020304" pitchFamily="18" charset="0"/>
              </a:rPr>
              <a:t>Remella</a:t>
            </a:r>
            <a:r>
              <a:rPr lang="en-IN" sz="2000" i="1" dirty="0">
                <a:solidFill>
                  <a:schemeClr val="dk1"/>
                </a:solidFill>
                <a:latin typeface="Times New Roman" panose="02020603050405020304" pitchFamily="18" charset="0"/>
                <a:cs typeface="Times New Roman" panose="02020603050405020304" pitchFamily="18" charset="0"/>
              </a:rPr>
              <a:t>, M. A. Hussain, A. Mishra, et al., “Multi-Agent AI for Distributed Cyber Threat Intelligence Sharing,” 2025 IEEE International Conference, 2025. </a:t>
            </a:r>
          </a:p>
          <a:p>
            <a:pPr algn="just" fontAlgn="base">
              <a:lnSpc>
                <a:spcPct val="150000"/>
              </a:lnSpc>
            </a:pPr>
            <a:r>
              <a:rPr lang="en-IN" sz="2000" b="1" i="1" dirty="0">
                <a:solidFill>
                  <a:schemeClr val="dk1"/>
                </a:solidFill>
                <a:latin typeface="Times New Roman" panose="02020603050405020304" pitchFamily="18" charset="0"/>
                <a:cs typeface="Times New Roman" panose="02020603050405020304" pitchFamily="18" charset="0"/>
              </a:rPr>
              <a:t>[12] </a:t>
            </a:r>
            <a:r>
              <a:rPr lang="en-IN" sz="2000" i="1" dirty="0">
                <a:solidFill>
                  <a:schemeClr val="dk1"/>
                </a:solidFill>
                <a:latin typeface="Times New Roman" panose="02020603050405020304" pitchFamily="18" charset="0"/>
                <a:cs typeface="Times New Roman" panose="02020603050405020304" pitchFamily="18" charset="0"/>
              </a:rPr>
              <a:t>M. Kumar, M. </a:t>
            </a:r>
            <a:r>
              <a:rPr lang="en-IN" sz="2000" i="1" dirty="0" err="1">
                <a:solidFill>
                  <a:schemeClr val="dk1"/>
                </a:solidFill>
                <a:latin typeface="Times New Roman" panose="02020603050405020304" pitchFamily="18" charset="0"/>
                <a:cs typeface="Times New Roman" panose="02020603050405020304" pitchFamily="18" charset="0"/>
              </a:rPr>
              <a:t>Shojonov</a:t>
            </a:r>
            <a:r>
              <a:rPr lang="en-IN" sz="2000" i="1" dirty="0">
                <a:solidFill>
                  <a:schemeClr val="dk1"/>
                </a:solidFill>
                <a:latin typeface="Times New Roman" panose="02020603050405020304" pitchFamily="18" charset="0"/>
                <a:cs typeface="Times New Roman" panose="02020603050405020304" pitchFamily="18" charset="0"/>
              </a:rPr>
              <a:t>, B. </a:t>
            </a:r>
            <a:r>
              <a:rPr lang="en-IN" sz="2000" i="1" dirty="0" err="1">
                <a:solidFill>
                  <a:schemeClr val="dk1"/>
                </a:solidFill>
                <a:latin typeface="Times New Roman" panose="02020603050405020304" pitchFamily="18" charset="0"/>
                <a:cs typeface="Times New Roman" panose="02020603050405020304" pitchFamily="18" charset="0"/>
              </a:rPr>
              <a:t>Madaminov</a:t>
            </a:r>
            <a:r>
              <a:rPr lang="en-IN" sz="2000" i="1" dirty="0">
                <a:solidFill>
                  <a:schemeClr val="dk1"/>
                </a:solidFill>
                <a:latin typeface="Times New Roman" panose="02020603050405020304" pitchFamily="18" charset="0"/>
                <a:cs typeface="Times New Roman" panose="02020603050405020304" pitchFamily="18" charset="0"/>
              </a:rPr>
              <a:t>, A. K. Sahoo, T. Tiwari, and M. K. Sharma, “AI-Powered Cyber Security: Neural Networks for Threat Detection and Prevention,” 2025 World Skills Conference on Universal Data Analytics and Sciences (</a:t>
            </a:r>
            <a:r>
              <a:rPr lang="en-IN" sz="2000" i="1" dirty="0" err="1">
                <a:solidFill>
                  <a:schemeClr val="dk1"/>
                </a:solidFill>
                <a:latin typeface="Times New Roman" panose="02020603050405020304" pitchFamily="18" charset="0"/>
                <a:cs typeface="Times New Roman" panose="02020603050405020304" pitchFamily="18" charset="0"/>
              </a:rPr>
              <a:t>WorldSUAS</a:t>
            </a:r>
            <a:r>
              <a:rPr lang="en-IN" sz="2000" i="1" dirty="0">
                <a:solidFill>
                  <a:schemeClr val="dk1"/>
                </a:solidFill>
                <a:latin typeface="Times New Roman" panose="02020603050405020304" pitchFamily="18" charset="0"/>
                <a:cs typeface="Times New Roman" panose="02020603050405020304" pitchFamily="18" charset="0"/>
              </a:rPr>
              <a:t>), 2025. </a:t>
            </a:r>
            <a:endParaRPr lang="en-IN" sz="2000" b="1" i="1" dirty="0">
              <a:latin typeface="Times New Roman" panose="02020603050405020304" pitchFamily="18" charset="0"/>
              <a:cs typeface="Times New Roman" panose="02020603050405020304" pitchFamily="18" charset="0"/>
            </a:endParaRPr>
          </a:p>
          <a:p>
            <a:pPr>
              <a:lnSpc>
                <a:spcPct val="150000"/>
              </a:lnSpc>
            </a:pPr>
            <a:endParaRPr lang="en-IN"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790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C7FFC-2AC0-BF76-9DBC-A98BE752B8A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6E938B0-5A3D-D221-637D-2DF8CFB85429}"/>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3" name="TextBox 4">
            <a:extLst>
              <a:ext uri="{FF2B5EF4-FFF2-40B4-BE49-F238E27FC236}">
                <a16:creationId xmlns:a16="http://schemas.microsoft.com/office/drawing/2014/main" id="{5AD5CD1D-D2C1-DD0B-EF30-D273B6EFA800}"/>
              </a:ext>
            </a:extLst>
          </p:cNvPr>
          <p:cNvSpPr txBox="1"/>
          <p:nvPr/>
        </p:nvSpPr>
        <p:spPr>
          <a:xfrm>
            <a:off x="3867150" y="495300"/>
            <a:ext cx="9772650" cy="884858"/>
          </a:xfrm>
          <a:prstGeom prst="rect">
            <a:avLst/>
          </a:prstGeom>
        </p:spPr>
        <p:txBody>
          <a:bodyPr wrap="square" lIns="0" tIns="0" rIns="0" bIns="0" rtlCol="0" anchor="t">
            <a:spAutoFit/>
          </a:bodyPr>
          <a:lstStyle/>
          <a:p>
            <a:pPr algn="ctr">
              <a:lnSpc>
                <a:spcPts val="6949"/>
              </a:lnSpc>
            </a:pPr>
            <a:r>
              <a:rPr lang="en-US" sz="5800" b="1" dirty="0">
                <a:solidFill>
                  <a:srgbClr val="000000"/>
                </a:solidFill>
                <a:latin typeface="Times New Roman Bold"/>
                <a:ea typeface="Times New Roman Bold"/>
                <a:cs typeface="Times New Roman Bold"/>
                <a:sym typeface="Times New Roman Bold"/>
              </a:rPr>
              <a:t>References</a:t>
            </a:r>
          </a:p>
        </p:txBody>
      </p:sp>
      <p:sp>
        <p:nvSpPr>
          <p:cNvPr id="4" name="TextBox 3">
            <a:extLst>
              <a:ext uri="{FF2B5EF4-FFF2-40B4-BE49-F238E27FC236}">
                <a16:creationId xmlns:a16="http://schemas.microsoft.com/office/drawing/2014/main" id="{17EA70EA-8A9B-ACFF-6FF3-E34859127395}"/>
              </a:ext>
            </a:extLst>
          </p:cNvPr>
          <p:cNvSpPr txBox="1"/>
          <p:nvPr/>
        </p:nvSpPr>
        <p:spPr>
          <a:xfrm>
            <a:off x="609600" y="1790700"/>
            <a:ext cx="16459200" cy="6961970"/>
          </a:xfrm>
          <a:prstGeom prst="rect">
            <a:avLst/>
          </a:prstGeom>
          <a:noFill/>
        </p:spPr>
        <p:txBody>
          <a:bodyPr wrap="square" rtlCol="0">
            <a:spAutoFit/>
          </a:bodyPr>
          <a:lstStyle/>
          <a:p>
            <a:pPr algn="just">
              <a:lnSpc>
                <a:spcPct val="150000"/>
              </a:lnSpc>
            </a:pPr>
            <a:r>
              <a:rPr lang="en-IN" sz="2000" b="1" i="1" dirty="0">
                <a:latin typeface="Times New Roman" panose="02020603050405020304" pitchFamily="18" charset="0"/>
                <a:cs typeface="Times New Roman" panose="02020603050405020304" pitchFamily="18" charset="0"/>
              </a:rPr>
              <a:t>[13] </a:t>
            </a:r>
            <a:r>
              <a:rPr lang="en-IN" sz="2000" i="1" dirty="0">
                <a:latin typeface="Times New Roman" panose="02020603050405020304" pitchFamily="18" charset="0"/>
                <a:cs typeface="Times New Roman" panose="02020603050405020304" pitchFamily="18" charset="0"/>
              </a:rPr>
              <a:t>M. Chigurupati, R. K. Malviya, A. R. </a:t>
            </a:r>
            <a:r>
              <a:rPr lang="en-IN" sz="2000" i="1" dirty="0" err="1">
                <a:latin typeface="Times New Roman" panose="02020603050405020304" pitchFamily="18" charset="0"/>
                <a:cs typeface="Times New Roman" panose="02020603050405020304" pitchFamily="18" charset="0"/>
              </a:rPr>
              <a:t>Toorpu</a:t>
            </a:r>
            <a:r>
              <a:rPr lang="en-IN" sz="2000" i="1" dirty="0">
                <a:latin typeface="Times New Roman" panose="02020603050405020304" pitchFamily="18" charset="0"/>
                <a:cs typeface="Times New Roman" panose="02020603050405020304" pitchFamily="18" charset="0"/>
              </a:rPr>
              <a:t>, and K. Anand, “AI Agents for Cloud Reliability: Autonomous Threat Detection and Mitigation Aligned with Site Reliability Engineering Principles,” 2025 IEEE 4th International Conference on AI in Cybersecurity (ICAIC), 2025,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10.1109/ICAIC63015.2025.10849322.</a:t>
            </a:r>
          </a:p>
          <a:p>
            <a:pPr algn="just">
              <a:lnSpc>
                <a:spcPct val="150000"/>
              </a:lnSpc>
            </a:pPr>
            <a:r>
              <a:rPr lang="en-IN" sz="2000" b="1" i="1" dirty="0">
                <a:latin typeface="Times New Roman" panose="02020603050405020304" pitchFamily="18" charset="0"/>
                <a:cs typeface="Times New Roman" panose="02020603050405020304" pitchFamily="18" charset="0"/>
              </a:rPr>
              <a:t>[14] </a:t>
            </a:r>
            <a:r>
              <a:rPr lang="en-IN" sz="2000" i="1" dirty="0">
                <a:latin typeface="Times New Roman" panose="02020603050405020304" pitchFamily="18" charset="0"/>
                <a:cs typeface="Times New Roman" panose="02020603050405020304" pitchFamily="18" charset="0"/>
              </a:rPr>
              <a:t>A. Sheth, A. Patel, C. Upadhyay, H. </a:t>
            </a:r>
            <a:r>
              <a:rPr lang="en-IN" sz="2000" i="1" dirty="0" err="1">
                <a:latin typeface="Times New Roman" panose="02020603050405020304" pitchFamily="18" charset="0"/>
                <a:cs typeface="Times New Roman" panose="02020603050405020304" pitchFamily="18" charset="0"/>
              </a:rPr>
              <a:t>Ragothaman</a:t>
            </a:r>
            <a:r>
              <a:rPr lang="en-IN" sz="2000" i="1" dirty="0">
                <a:latin typeface="Times New Roman" panose="02020603050405020304" pitchFamily="18" charset="0"/>
                <a:cs typeface="Times New Roman" panose="02020603050405020304" pitchFamily="18" charset="0"/>
              </a:rPr>
              <a:t>, B. Patil, and S. K. Udayakumar, “Agentic AI for Autonomous Cyber Threat Hunting and Adaptive </a:t>
            </a:r>
            <a:r>
              <a:rPr lang="en-IN" sz="2000" i="1" dirty="0" err="1">
                <a:latin typeface="Times New Roman" panose="02020603050405020304" pitchFamily="18" charset="0"/>
                <a:cs typeface="Times New Roman" panose="02020603050405020304" pitchFamily="18" charset="0"/>
              </a:rPr>
              <a:t>Defense</a:t>
            </a:r>
            <a:r>
              <a:rPr lang="en-IN" sz="2000" i="1" dirty="0">
                <a:latin typeface="Times New Roman" panose="02020603050405020304" pitchFamily="18" charset="0"/>
                <a:cs typeface="Times New Roman" panose="02020603050405020304" pitchFamily="18" charset="0"/>
              </a:rPr>
              <a:t> in Dynamic Security Environments,” 2025 IEEE International Conference on Electro/Information Technology (EIT), 2025,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10.1109/eIT64391.2025.11103697.</a:t>
            </a:r>
          </a:p>
          <a:p>
            <a:pPr algn="just">
              <a:lnSpc>
                <a:spcPct val="150000"/>
              </a:lnSpc>
            </a:pPr>
            <a:r>
              <a:rPr lang="en-IN" sz="2000" b="1" i="1" dirty="0">
                <a:latin typeface="Times New Roman" panose="02020603050405020304" pitchFamily="18" charset="0"/>
                <a:cs typeface="Times New Roman" panose="02020603050405020304" pitchFamily="18" charset="0"/>
              </a:rPr>
              <a:t>[15] </a:t>
            </a:r>
            <a:r>
              <a:rPr lang="en-IN" sz="2000" i="1" dirty="0">
                <a:latin typeface="Times New Roman" panose="02020603050405020304" pitchFamily="18" charset="0"/>
                <a:cs typeface="Times New Roman" panose="02020603050405020304" pitchFamily="18" charset="0"/>
              </a:rPr>
              <a:t>R. Chetwyn, M. Eian, and A. </a:t>
            </a:r>
            <a:r>
              <a:rPr lang="en-IN" sz="2000" i="1" dirty="0" err="1">
                <a:latin typeface="Times New Roman" panose="02020603050405020304" pitchFamily="18" charset="0"/>
                <a:cs typeface="Times New Roman" panose="02020603050405020304" pitchFamily="18" charset="0"/>
              </a:rPr>
              <a:t>Jøsang</a:t>
            </a:r>
            <a:r>
              <a:rPr lang="en-IN" sz="2000" i="1" dirty="0">
                <a:latin typeface="Times New Roman" panose="02020603050405020304" pitchFamily="18" charset="0"/>
                <a:cs typeface="Times New Roman" panose="02020603050405020304" pitchFamily="18" charset="0"/>
              </a:rPr>
              <a:t>, “Onto Hunt – A Semantic Reasoning Approach to Cyber Threat Hunting with Indicators of Behaviour,” 2024 IEEE International Conference on Cyber Security and Resilience (CSR), pp. 853–859, 2024,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10.1109/CSR61664.2024.10679394.</a:t>
            </a:r>
          </a:p>
          <a:p>
            <a:pPr algn="just">
              <a:lnSpc>
                <a:spcPct val="150000"/>
              </a:lnSpc>
            </a:pPr>
            <a:r>
              <a:rPr lang="en-IN" sz="2000" b="1" i="1" dirty="0">
                <a:latin typeface="Times New Roman" panose="02020603050405020304" pitchFamily="18" charset="0"/>
                <a:cs typeface="Times New Roman" panose="02020603050405020304" pitchFamily="18" charset="0"/>
              </a:rPr>
              <a:t>[16] </a:t>
            </a:r>
            <a:r>
              <a:rPr lang="en-IN" sz="2000" i="1" dirty="0">
                <a:latin typeface="Times New Roman" panose="02020603050405020304" pitchFamily="18" charset="0"/>
                <a:cs typeface="Times New Roman" panose="02020603050405020304" pitchFamily="18" charset="0"/>
              </a:rPr>
              <a:t>R. Buchta, C. Kleiner, F. Heine, D. Mahrenholz, U. </a:t>
            </a:r>
            <a:r>
              <a:rPr lang="en-IN" sz="2000" i="1" dirty="0" err="1">
                <a:latin typeface="Times New Roman" panose="02020603050405020304" pitchFamily="18" charset="0"/>
                <a:cs typeface="Times New Roman" panose="02020603050405020304" pitchFamily="18" charset="0"/>
              </a:rPr>
              <a:t>Mönks</a:t>
            </a:r>
            <a:r>
              <a:rPr lang="en-IN" sz="2000" i="1" dirty="0">
                <a:latin typeface="Times New Roman" panose="02020603050405020304" pitchFamily="18" charset="0"/>
                <a:cs typeface="Times New Roman" panose="02020603050405020304" pitchFamily="18" charset="0"/>
              </a:rPr>
              <a:t>, and H. Trsek, “</a:t>
            </a:r>
            <a:r>
              <a:rPr lang="en-IN" sz="2000" i="1" dirty="0" err="1">
                <a:latin typeface="Times New Roman" panose="02020603050405020304" pitchFamily="18" charset="0"/>
                <a:cs typeface="Times New Roman" panose="02020603050405020304" pitchFamily="18" charset="0"/>
              </a:rPr>
              <a:t>GraphWatch</a:t>
            </a:r>
            <a:r>
              <a:rPr lang="en-IN" sz="2000" i="1" dirty="0">
                <a:latin typeface="Times New Roman" panose="02020603050405020304" pitchFamily="18" charset="0"/>
                <a:cs typeface="Times New Roman" panose="02020603050405020304" pitchFamily="18" charset="0"/>
              </a:rPr>
              <a:t>: A Novel Threat Hunting Approach for APT Activities Based on Anomaly Detection,” 2024 IEEE 29th International Conference on Emerging Technologies and Factory Automation (ETFA), pp. 1–4, 2024,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10.1109/ETFA61755.2024.10711127.</a:t>
            </a:r>
          </a:p>
          <a:p>
            <a:pPr algn="just">
              <a:lnSpc>
                <a:spcPct val="150000"/>
              </a:lnSpc>
            </a:pPr>
            <a:r>
              <a:rPr lang="en-IN" sz="2000" b="1" i="1" dirty="0">
                <a:latin typeface="Times New Roman" panose="02020603050405020304" pitchFamily="18" charset="0"/>
                <a:cs typeface="Times New Roman" panose="02020603050405020304" pitchFamily="18" charset="0"/>
              </a:rPr>
              <a:t>[17] </a:t>
            </a:r>
            <a:r>
              <a:rPr lang="en-IN" sz="2000" i="1" dirty="0">
                <a:latin typeface="Times New Roman" panose="02020603050405020304" pitchFamily="18" charset="0"/>
                <a:cs typeface="Times New Roman" panose="02020603050405020304" pitchFamily="18" charset="0"/>
              </a:rPr>
              <a:t>K. M. Heckel and A. Weller, “Countering Autonomous Cyber Threats,” </a:t>
            </a:r>
            <a:r>
              <a:rPr lang="en-IN" sz="2000" i="1" dirty="0" err="1">
                <a:latin typeface="Times New Roman" panose="02020603050405020304" pitchFamily="18" charset="0"/>
                <a:cs typeface="Times New Roman" panose="02020603050405020304" pitchFamily="18" charset="0"/>
              </a:rPr>
              <a:t>arXiv</a:t>
            </a:r>
            <a:r>
              <a:rPr lang="en-IN" sz="2000" i="1" dirty="0">
                <a:latin typeface="Times New Roman" panose="02020603050405020304" pitchFamily="18" charset="0"/>
                <a:cs typeface="Times New Roman" panose="02020603050405020304" pitchFamily="18" charset="0"/>
              </a:rPr>
              <a:t> preprint arXiv:2410.18312, 2024,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10.48550/arXiv.2410.18312.</a:t>
            </a:r>
          </a:p>
          <a:p>
            <a:pPr algn="just">
              <a:lnSpc>
                <a:spcPct val="150000"/>
              </a:lnSpc>
            </a:pPr>
            <a:r>
              <a:rPr lang="en-IN" sz="2000" b="1" i="1" dirty="0">
                <a:latin typeface="Times New Roman" panose="02020603050405020304" pitchFamily="18" charset="0"/>
                <a:cs typeface="Times New Roman" panose="02020603050405020304" pitchFamily="18" charset="0"/>
              </a:rPr>
              <a:t>[18] </a:t>
            </a:r>
            <a:r>
              <a:rPr lang="en-IN" sz="2000" i="1" dirty="0">
                <a:latin typeface="Times New Roman" panose="02020603050405020304" pitchFamily="18" charset="0"/>
                <a:cs typeface="Times New Roman" panose="02020603050405020304" pitchFamily="18" charset="0"/>
              </a:rPr>
              <a:t>J. </a:t>
            </a:r>
            <a:r>
              <a:rPr lang="en-IN" sz="2000" i="1" dirty="0" err="1">
                <a:latin typeface="Times New Roman" panose="02020603050405020304" pitchFamily="18" charset="0"/>
                <a:cs typeface="Times New Roman" panose="02020603050405020304" pitchFamily="18" charset="0"/>
              </a:rPr>
              <a:t>Yedalla</a:t>
            </a:r>
            <a:r>
              <a:rPr lang="en-IN" sz="2000" i="1" dirty="0">
                <a:latin typeface="Times New Roman" panose="02020603050405020304" pitchFamily="18" charset="0"/>
                <a:cs typeface="Times New Roman" panose="02020603050405020304" pitchFamily="18" charset="0"/>
              </a:rPr>
              <a:t>, “AI-Generated Cyber Threats: The Rise of Autonomous Hacking Systems,” International Journal of Advanced Research in Computer and Communication Engineering (IJARCCE), vol. 13, no. 12, 2024,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10.17148/IJARCCE.2024.131263.</a:t>
            </a:r>
          </a:p>
          <a:p>
            <a:pPr algn="just">
              <a:lnSpc>
                <a:spcPct val="150000"/>
              </a:lnSpc>
            </a:pPr>
            <a:endParaRPr lang="en-IN" sz="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7459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BB669-0C2D-3BC9-4B7F-3F55B968169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BFDFF5-2513-2FD4-196B-837218DB34DC}"/>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3" name="TextBox 4">
            <a:extLst>
              <a:ext uri="{FF2B5EF4-FFF2-40B4-BE49-F238E27FC236}">
                <a16:creationId xmlns:a16="http://schemas.microsoft.com/office/drawing/2014/main" id="{F496199F-B9C6-7726-F189-64DB6FF36D66}"/>
              </a:ext>
            </a:extLst>
          </p:cNvPr>
          <p:cNvSpPr txBox="1"/>
          <p:nvPr/>
        </p:nvSpPr>
        <p:spPr>
          <a:xfrm>
            <a:off x="3867150" y="495300"/>
            <a:ext cx="9772650" cy="884858"/>
          </a:xfrm>
          <a:prstGeom prst="rect">
            <a:avLst/>
          </a:prstGeom>
        </p:spPr>
        <p:txBody>
          <a:bodyPr wrap="square" lIns="0" tIns="0" rIns="0" bIns="0" rtlCol="0" anchor="t">
            <a:spAutoFit/>
          </a:bodyPr>
          <a:lstStyle/>
          <a:p>
            <a:pPr algn="ctr">
              <a:lnSpc>
                <a:spcPts val="6949"/>
              </a:lnSpc>
            </a:pPr>
            <a:r>
              <a:rPr lang="en-US" sz="5800" b="1" dirty="0">
                <a:solidFill>
                  <a:srgbClr val="000000"/>
                </a:solidFill>
                <a:latin typeface="Times New Roman Bold"/>
                <a:ea typeface="Times New Roman Bold"/>
                <a:cs typeface="Times New Roman Bold"/>
                <a:sym typeface="Times New Roman Bold"/>
              </a:rPr>
              <a:t>References</a:t>
            </a:r>
          </a:p>
        </p:txBody>
      </p:sp>
      <p:sp>
        <p:nvSpPr>
          <p:cNvPr id="4" name="TextBox 3">
            <a:extLst>
              <a:ext uri="{FF2B5EF4-FFF2-40B4-BE49-F238E27FC236}">
                <a16:creationId xmlns:a16="http://schemas.microsoft.com/office/drawing/2014/main" id="{8EFC4072-6214-57E9-E544-74D61B594798}"/>
              </a:ext>
            </a:extLst>
          </p:cNvPr>
          <p:cNvSpPr txBox="1"/>
          <p:nvPr/>
        </p:nvSpPr>
        <p:spPr>
          <a:xfrm>
            <a:off x="609600" y="2019300"/>
            <a:ext cx="16840200" cy="6961970"/>
          </a:xfrm>
          <a:prstGeom prst="rect">
            <a:avLst/>
          </a:prstGeom>
          <a:noFill/>
        </p:spPr>
        <p:txBody>
          <a:bodyPr wrap="square" rtlCol="0">
            <a:spAutoFit/>
          </a:bodyPr>
          <a:lstStyle/>
          <a:p>
            <a:pPr algn="just">
              <a:lnSpc>
                <a:spcPct val="150000"/>
              </a:lnSpc>
            </a:pPr>
            <a:r>
              <a:rPr lang="en-IN" sz="2000" b="1" i="1" dirty="0">
                <a:latin typeface="Times New Roman" panose="02020603050405020304" pitchFamily="18" charset="0"/>
                <a:cs typeface="Times New Roman" panose="02020603050405020304" pitchFamily="18" charset="0"/>
              </a:rPr>
              <a:t>[19] </a:t>
            </a:r>
            <a:r>
              <a:rPr lang="en-IN" sz="2000" i="1" dirty="0">
                <a:latin typeface="Times New Roman" panose="02020603050405020304" pitchFamily="18" charset="0"/>
                <a:cs typeface="Times New Roman" panose="02020603050405020304" pitchFamily="18" charset="0"/>
              </a:rPr>
              <a:t>S. Sheikhi and P. </a:t>
            </a:r>
            <a:r>
              <a:rPr lang="en-IN" sz="2000" i="1" dirty="0" err="1">
                <a:latin typeface="Times New Roman" panose="02020603050405020304" pitchFamily="18" charset="0"/>
                <a:cs typeface="Times New Roman" panose="02020603050405020304" pitchFamily="18" charset="0"/>
              </a:rPr>
              <a:t>Kostakos</a:t>
            </a:r>
            <a:r>
              <a:rPr lang="en-IN" sz="2000" i="1" dirty="0">
                <a:latin typeface="Times New Roman" panose="02020603050405020304" pitchFamily="18" charset="0"/>
                <a:cs typeface="Times New Roman" panose="02020603050405020304" pitchFamily="18" charset="0"/>
              </a:rPr>
              <a:t>, “Cyber Threat Hunting Using Unsupervised Federated Learning and Adversary Emulation,” 2023 IEEE International Conference on Cyber Security and Resilience (CSR), pp. 315–320, 2023,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10.1109/CSR57506.2023.10224990.</a:t>
            </a:r>
          </a:p>
          <a:p>
            <a:pPr algn="just">
              <a:lnSpc>
                <a:spcPct val="150000"/>
              </a:lnSpc>
            </a:pPr>
            <a:r>
              <a:rPr lang="en-IN" sz="2000" b="1" i="1" dirty="0">
                <a:latin typeface="Times New Roman" panose="02020603050405020304" pitchFamily="18" charset="0"/>
                <a:cs typeface="Times New Roman" panose="02020603050405020304" pitchFamily="18" charset="0"/>
              </a:rPr>
              <a:t>[20] </a:t>
            </a:r>
            <a:r>
              <a:rPr lang="en-IN" sz="2000" i="1" dirty="0">
                <a:latin typeface="Times New Roman" panose="02020603050405020304" pitchFamily="18" charset="0"/>
                <a:cs typeface="Times New Roman" panose="02020603050405020304" pitchFamily="18" charset="0"/>
              </a:rPr>
              <a:t>A. H. </a:t>
            </a:r>
            <a:r>
              <a:rPr lang="en-IN" sz="2000" i="1" dirty="0" err="1">
                <a:latin typeface="Times New Roman" panose="02020603050405020304" pitchFamily="18" charset="0"/>
                <a:cs typeface="Times New Roman" panose="02020603050405020304" pitchFamily="18" charset="0"/>
              </a:rPr>
              <a:t>Nursidiq</a:t>
            </a:r>
            <a:r>
              <a:rPr lang="en-IN" sz="2000" i="1" dirty="0">
                <a:latin typeface="Times New Roman" panose="02020603050405020304" pitchFamily="18" charset="0"/>
                <a:cs typeface="Times New Roman" panose="02020603050405020304" pitchFamily="18" charset="0"/>
              </a:rPr>
              <a:t> and C. Lim, “Cyber Threat Hunting to Detect Unknown Threats in the Enterprise Network,” 2023 IEEE International Conference on Cryptography, Informatics, and Cybersecurity (</a:t>
            </a:r>
            <a:r>
              <a:rPr lang="en-IN" sz="2000" i="1" dirty="0" err="1">
                <a:latin typeface="Times New Roman" panose="02020603050405020304" pitchFamily="18" charset="0"/>
                <a:cs typeface="Times New Roman" panose="02020603050405020304" pitchFamily="18" charset="0"/>
              </a:rPr>
              <a:t>ICoCICs</a:t>
            </a:r>
            <a:r>
              <a:rPr lang="en-IN" sz="2000" i="1" dirty="0">
                <a:latin typeface="Times New Roman" panose="02020603050405020304" pitchFamily="18" charset="0"/>
                <a:cs typeface="Times New Roman" panose="02020603050405020304" pitchFamily="18" charset="0"/>
              </a:rPr>
              <a:t>), 2023,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10.1109/ICoCICs58778.2023.10277438.</a:t>
            </a:r>
          </a:p>
          <a:p>
            <a:pPr algn="just">
              <a:lnSpc>
                <a:spcPct val="150000"/>
              </a:lnSpc>
            </a:pPr>
            <a:r>
              <a:rPr lang="en-IN" sz="2000" b="1" i="1" dirty="0">
                <a:latin typeface="Times New Roman" panose="02020603050405020304" pitchFamily="18" charset="0"/>
                <a:cs typeface="Times New Roman" panose="02020603050405020304" pitchFamily="18" charset="0"/>
              </a:rPr>
              <a:t>21] </a:t>
            </a:r>
            <a:r>
              <a:rPr lang="en-IN" sz="2000" i="1" dirty="0">
                <a:latin typeface="Times New Roman" panose="02020603050405020304" pitchFamily="18" charset="0"/>
                <a:cs typeface="Times New Roman" panose="02020603050405020304" pitchFamily="18" charset="0"/>
              </a:rPr>
              <a:t>M. S. Kulkarni and A. H. </a:t>
            </a:r>
            <a:r>
              <a:rPr lang="en-IN" sz="2000" i="1" dirty="0" err="1">
                <a:latin typeface="Times New Roman" panose="02020603050405020304" pitchFamily="18" charset="0"/>
                <a:cs typeface="Times New Roman" panose="02020603050405020304" pitchFamily="18" charset="0"/>
              </a:rPr>
              <a:t>Dudhia</a:t>
            </a:r>
            <a:r>
              <a:rPr lang="en-IN" sz="2000" i="1" dirty="0">
                <a:latin typeface="Times New Roman" panose="02020603050405020304" pitchFamily="18" charset="0"/>
                <a:cs typeface="Times New Roman" panose="02020603050405020304" pitchFamily="18" charset="0"/>
              </a:rPr>
              <a:t>, “A Proactive Approach to Advanced Cyber Threat Hunting,” 2023 7th International Conference on Computation System and Information Technology for Sustainable Solutions (CSITSS), 2023,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10.1109/CSITSS60515.2023.10334219.</a:t>
            </a:r>
          </a:p>
          <a:p>
            <a:pPr algn="just">
              <a:lnSpc>
                <a:spcPct val="150000"/>
              </a:lnSpc>
            </a:pPr>
            <a:r>
              <a:rPr lang="en-IN" sz="2000" b="1" i="1" dirty="0">
                <a:latin typeface="Times New Roman" panose="02020603050405020304" pitchFamily="18" charset="0"/>
                <a:cs typeface="Times New Roman" panose="02020603050405020304" pitchFamily="18" charset="0"/>
              </a:rPr>
              <a:t>[22] </a:t>
            </a:r>
            <a:r>
              <a:rPr lang="en-IN" sz="2000" i="1" dirty="0">
                <a:latin typeface="Times New Roman" panose="02020603050405020304" pitchFamily="18" charset="0"/>
                <a:cs typeface="Times New Roman" panose="02020603050405020304" pitchFamily="18" charset="0"/>
              </a:rPr>
              <a:t>M. </a:t>
            </a:r>
            <a:r>
              <a:rPr lang="en-IN" sz="2000" i="1" dirty="0" err="1">
                <a:latin typeface="Times New Roman" panose="02020603050405020304" pitchFamily="18" charset="0"/>
                <a:cs typeface="Times New Roman" panose="02020603050405020304" pitchFamily="18" charset="0"/>
              </a:rPr>
              <a:t>Kaloev</a:t>
            </a:r>
            <a:r>
              <a:rPr lang="en-IN" sz="2000" i="1" dirty="0">
                <a:latin typeface="Times New Roman" panose="02020603050405020304" pitchFamily="18" charset="0"/>
                <a:cs typeface="Times New Roman" panose="02020603050405020304" pitchFamily="18" charset="0"/>
              </a:rPr>
              <a:t> and G. Krastev, “Tailored Learning Rates for Reinforcement Learning: A Visual Exploration and Guideline Formulation,” 2023 7th International Symposium on Innovative Approaches in Smart Technologies (ISAS), 2023,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10.1109/ISAS60782.2023.10391644.</a:t>
            </a:r>
          </a:p>
          <a:p>
            <a:pPr algn="just">
              <a:lnSpc>
                <a:spcPct val="150000"/>
              </a:lnSpc>
            </a:pPr>
            <a:r>
              <a:rPr lang="en-IN" sz="2000" b="1" i="1" dirty="0">
                <a:latin typeface="Times New Roman" panose="02020603050405020304" pitchFamily="18" charset="0"/>
                <a:cs typeface="Times New Roman" panose="02020603050405020304" pitchFamily="18" charset="0"/>
              </a:rPr>
              <a:t>[23] </a:t>
            </a:r>
            <a:r>
              <a:rPr lang="en-IN" sz="2000" i="1" dirty="0">
                <a:latin typeface="Times New Roman" panose="02020603050405020304" pitchFamily="18" charset="0"/>
                <a:cs typeface="Times New Roman" panose="02020603050405020304" pitchFamily="18" charset="0"/>
              </a:rPr>
              <a:t>D. Smith, S. </a:t>
            </a:r>
            <a:r>
              <a:rPr lang="en-IN" sz="2000" i="1" dirty="0" err="1">
                <a:latin typeface="Times New Roman" panose="02020603050405020304" pitchFamily="18" charset="0"/>
                <a:cs typeface="Times New Roman" panose="02020603050405020304" pitchFamily="18" charset="0"/>
              </a:rPr>
              <a:t>Khorsandroo</a:t>
            </a:r>
            <a:r>
              <a:rPr lang="en-IN" sz="2000" i="1" dirty="0">
                <a:latin typeface="Times New Roman" panose="02020603050405020304" pitchFamily="18" charset="0"/>
                <a:cs typeface="Times New Roman" panose="02020603050405020304" pitchFamily="18" charset="0"/>
              </a:rPr>
              <a:t>, and K. Roy, “Supervised and Unsupervised Learning Techniques Utilizing Malware Datasets,” 2023 IEEE 2nd International Conference on AI in Cybersecurity (ICAIC), 2023,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10.1109/ICAIC57335.2023.10044169.</a:t>
            </a:r>
          </a:p>
          <a:p>
            <a:pPr algn="just">
              <a:lnSpc>
                <a:spcPct val="150000"/>
              </a:lnSpc>
            </a:pPr>
            <a:r>
              <a:rPr lang="en-IN" sz="2000" b="1" i="1" dirty="0">
                <a:latin typeface="Times New Roman" panose="02020603050405020304" pitchFamily="18" charset="0"/>
                <a:cs typeface="Times New Roman" panose="02020603050405020304" pitchFamily="18" charset="0"/>
              </a:rPr>
              <a:t>[24] </a:t>
            </a:r>
            <a:r>
              <a:rPr lang="en-IN" sz="2000" i="1" dirty="0">
                <a:latin typeface="Times New Roman" panose="02020603050405020304" pitchFamily="18" charset="0"/>
                <a:cs typeface="Times New Roman" panose="02020603050405020304" pitchFamily="18" charset="0"/>
              </a:rPr>
              <a:t>S. Ghosh, A. </a:t>
            </a:r>
            <a:r>
              <a:rPr lang="en-IN" sz="2000" i="1" dirty="0" err="1">
                <a:latin typeface="Times New Roman" panose="02020603050405020304" pitchFamily="18" charset="0"/>
                <a:cs typeface="Times New Roman" panose="02020603050405020304" pitchFamily="18" charset="0"/>
              </a:rPr>
              <a:t>Zaboli</a:t>
            </a:r>
            <a:r>
              <a:rPr lang="en-IN" sz="2000" i="1" dirty="0">
                <a:latin typeface="Times New Roman" panose="02020603050405020304" pitchFamily="18" charset="0"/>
                <a:cs typeface="Times New Roman" panose="02020603050405020304" pitchFamily="18" charset="0"/>
              </a:rPr>
              <a:t>, J. Hong, and J. Kwon, “An Integrated Approach of Threat Analysis for Autonomous Vehicles Perception System,” IEEE Access, vol. 11, pp. 14752–14777, 2023,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10.1109/ACCESS.2023.3243906.</a:t>
            </a:r>
          </a:p>
          <a:p>
            <a:pPr algn="just">
              <a:lnSpc>
                <a:spcPct val="150000"/>
              </a:lnSpc>
            </a:pPr>
            <a:r>
              <a:rPr lang="en-IN" sz="2000" b="1" i="1" dirty="0">
                <a:latin typeface="Times New Roman" panose="02020603050405020304" pitchFamily="18" charset="0"/>
                <a:cs typeface="Times New Roman" panose="02020603050405020304" pitchFamily="18" charset="0"/>
              </a:rPr>
              <a:t>[25] </a:t>
            </a:r>
            <a:r>
              <a:rPr lang="en-IN" sz="2000" i="1" dirty="0">
                <a:latin typeface="Times New Roman" panose="02020603050405020304" pitchFamily="18" charset="0"/>
                <a:cs typeface="Times New Roman" panose="02020603050405020304" pitchFamily="18" charset="0"/>
              </a:rPr>
              <a:t>J. E. T. Akinsola, E. A. </a:t>
            </a:r>
            <a:r>
              <a:rPr lang="en-IN" sz="2000" i="1" dirty="0" err="1">
                <a:latin typeface="Times New Roman" panose="02020603050405020304" pitchFamily="18" charset="0"/>
                <a:cs typeface="Times New Roman" panose="02020603050405020304" pitchFamily="18" charset="0"/>
              </a:rPr>
              <a:t>Olajubu</a:t>
            </a:r>
            <a:r>
              <a:rPr lang="en-IN" sz="2000" i="1" dirty="0">
                <a:latin typeface="Times New Roman" panose="02020603050405020304" pitchFamily="18" charset="0"/>
                <a:cs typeface="Times New Roman" panose="02020603050405020304" pitchFamily="18" charset="0"/>
              </a:rPr>
              <a:t>, and G. A. </a:t>
            </a:r>
            <a:r>
              <a:rPr lang="en-IN" sz="2000" i="1" dirty="0" err="1">
                <a:latin typeface="Times New Roman" panose="02020603050405020304" pitchFamily="18" charset="0"/>
                <a:cs typeface="Times New Roman" panose="02020603050405020304" pitchFamily="18" charset="0"/>
              </a:rPr>
              <a:t>Aderounmu</a:t>
            </a:r>
            <a:r>
              <a:rPr lang="en-IN" sz="2000" i="1" dirty="0">
                <a:latin typeface="Times New Roman" panose="02020603050405020304" pitchFamily="18" charset="0"/>
                <a:cs typeface="Times New Roman" panose="02020603050405020304" pitchFamily="18" charset="0"/>
              </a:rPr>
              <a:t>, “Development of Threat Hunting Model Using Machine Learning Algorithms for Cyber Attacks Mitigation,” 2022 International Conference on Computational Science and Computational Intelligence (CSCI), pp. 1010–1015, 2022,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10.1109/CSCI58124.2022.00179.</a:t>
            </a:r>
          </a:p>
        </p:txBody>
      </p:sp>
    </p:spTree>
    <p:extLst>
      <p:ext uri="{BB962C8B-B14F-4D97-AF65-F5344CB8AC3E}">
        <p14:creationId xmlns:p14="http://schemas.microsoft.com/office/powerpoint/2010/main" val="2510433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83ED6-4DA7-D864-B603-159FBCD9BB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3966E62-3057-F18E-C259-5109B8225770}"/>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dirty="0"/>
          </a:p>
        </p:txBody>
      </p:sp>
      <p:sp>
        <p:nvSpPr>
          <p:cNvPr id="3" name="TextBox 4">
            <a:extLst>
              <a:ext uri="{FF2B5EF4-FFF2-40B4-BE49-F238E27FC236}">
                <a16:creationId xmlns:a16="http://schemas.microsoft.com/office/drawing/2014/main" id="{48EE80EC-9C1A-EBBC-A651-FCAA4D936002}"/>
              </a:ext>
            </a:extLst>
          </p:cNvPr>
          <p:cNvSpPr txBox="1"/>
          <p:nvPr/>
        </p:nvSpPr>
        <p:spPr>
          <a:xfrm>
            <a:off x="3867150" y="495300"/>
            <a:ext cx="9772650" cy="884858"/>
          </a:xfrm>
          <a:prstGeom prst="rect">
            <a:avLst/>
          </a:prstGeom>
        </p:spPr>
        <p:txBody>
          <a:bodyPr wrap="square" lIns="0" tIns="0" rIns="0" bIns="0" rtlCol="0" anchor="t">
            <a:spAutoFit/>
          </a:bodyPr>
          <a:lstStyle/>
          <a:p>
            <a:pPr algn="ctr">
              <a:lnSpc>
                <a:spcPts val="6949"/>
              </a:lnSpc>
            </a:pPr>
            <a:r>
              <a:rPr lang="en-US" sz="5800" b="1" dirty="0">
                <a:solidFill>
                  <a:srgbClr val="000000"/>
                </a:solidFill>
                <a:latin typeface="Times New Roman Bold"/>
                <a:ea typeface="Times New Roman Bold"/>
                <a:cs typeface="Times New Roman Bold"/>
                <a:sym typeface="Times New Roman Bold"/>
              </a:rPr>
              <a:t>References</a:t>
            </a:r>
          </a:p>
        </p:txBody>
      </p:sp>
      <p:sp>
        <p:nvSpPr>
          <p:cNvPr id="4" name="TextBox 3">
            <a:extLst>
              <a:ext uri="{FF2B5EF4-FFF2-40B4-BE49-F238E27FC236}">
                <a16:creationId xmlns:a16="http://schemas.microsoft.com/office/drawing/2014/main" id="{181B00AD-EB32-5600-C6C6-30C92169F6A2}"/>
              </a:ext>
            </a:extLst>
          </p:cNvPr>
          <p:cNvSpPr txBox="1"/>
          <p:nvPr/>
        </p:nvSpPr>
        <p:spPr>
          <a:xfrm>
            <a:off x="609600" y="2019300"/>
            <a:ext cx="16840200" cy="4653646"/>
          </a:xfrm>
          <a:prstGeom prst="rect">
            <a:avLst/>
          </a:prstGeom>
          <a:noFill/>
        </p:spPr>
        <p:txBody>
          <a:bodyPr wrap="square" rtlCol="0">
            <a:spAutoFit/>
          </a:bodyPr>
          <a:lstStyle/>
          <a:p>
            <a:pPr algn="just">
              <a:lnSpc>
                <a:spcPct val="150000"/>
              </a:lnSpc>
            </a:pPr>
            <a:r>
              <a:rPr lang="en-IN" sz="2000" b="1" i="1" dirty="0">
                <a:latin typeface="Times New Roman" panose="02020603050405020304" pitchFamily="18" charset="0"/>
                <a:cs typeface="Times New Roman" panose="02020603050405020304" pitchFamily="18" charset="0"/>
              </a:rPr>
              <a:t>[26] </a:t>
            </a:r>
            <a:r>
              <a:rPr lang="en-IN" sz="2000" i="1" dirty="0">
                <a:latin typeface="Times New Roman" panose="02020603050405020304" pitchFamily="18" charset="0"/>
                <a:cs typeface="Times New Roman" panose="02020603050405020304" pitchFamily="18" charset="0"/>
              </a:rPr>
              <a:t>Y. S. </a:t>
            </a:r>
            <a:r>
              <a:rPr lang="en-IN" sz="2000" i="1" dirty="0" err="1">
                <a:latin typeface="Times New Roman" panose="02020603050405020304" pitchFamily="18" charset="0"/>
                <a:cs typeface="Times New Roman" panose="02020603050405020304" pitchFamily="18" charset="0"/>
              </a:rPr>
              <a:t>AlMahmeed</a:t>
            </a:r>
            <a:r>
              <a:rPr lang="en-IN" sz="2000" i="1" dirty="0">
                <a:latin typeface="Times New Roman" panose="02020603050405020304" pitchFamily="18" charset="0"/>
                <a:cs typeface="Times New Roman" panose="02020603050405020304" pitchFamily="18" charset="0"/>
              </a:rPr>
              <a:t> and A. Y. Al-Omay, “Zero-day Attack Solutions Using Threat Hunting Intelligence: Extensive Survey,” 2022 International Conference on Data Analytics for Business and Industry (ICDABI), pp. 309–314, 2022,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10.1109/ICDABI56818.2022.10041568.</a:t>
            </a:r>
          </a:p>
          <a:p>
            <a:pPr algn="just">
              <a:lnSpc>
                <a:spcPct val="150000"/>
              </a:lnSpc>
            </a:pPr>
            <a:r>
              <a:rPr lang="en-IN" sz="2000" b="1" i="1" dirty="0">
                <a:latin typeface="Times New Roman" panose="02020603050405020304" pitchFamily="18" charset="0"/>
                <a:cs typeface="Times New Roman" panose="02020603050405020304" pitchFamily="18" charset="0"/>
              </a:rPr>
              <a:t>[27] </a:t>
            </a:r>
            <a:r>
              <a:rPr lang="en-IN" sz="2000" i="1" dirty="0">
                <a:latin typeface="Times New Roman" panose="02020603050405020304" pitchFamily="18" charset="0"/>
                <a:cs typeface="Times New Roman" panose="02020603050405020304" pitchFamily="18" charset="0"/>
              </a:rPr>
              <a:t>L. Lyu, Y. Shen, and S. Zhang, “The Advance of Reinforcement Learning and Deep Reinforcement Learning,” 2022 IEEE International Conference on Electrical Engineering, Big Data and Algorithms (EEBDA), 2022,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10.1109/EEBDA53927.2022.9744760.</a:t>
            </a:r>
          </a:p>
          <a:p>
            <a:pPr algn="just">
              <a:lnSpc>
                <a:spcPct val="150000"/>
              </a:lnSpc>
            </a:pPr>
            <a:r>
              <a:rPr lang="en-IN" sz="2000" b="1" i="1" dirty="0">
                <a:latin typeface="Times New Roman" panose="02020603050405020304" pitchFamily="18" charset="0"/>
                <a:cs typeface="Times New Roman" panose="02020603050405020304" pitchFamily="18" charset="0"/>
              </a:rPr>
              <a:t>[28] </a:t>
            </a:r>
            <a:r>
              <a:rPr lang="en-IN" sz="2000" i="1" dirty="0">
                <a:latin typeface="Times New Roman" panose="02020603050405020304" pitchFamily="18" charset="0"/>
                <a:cs typeface="Times New Roman" panose="02020603050405020304" pitchFamily="18" charset="0"/>
              </a:rPr>
              <a:t>A. Agarwal, H. Walia, and H. Gupta, “Cyber Security Model for Threat Hunting,” 2021 9th International Conference on Reliability, Infocom Technologies and Optimization (Trends and Future Directions) (ICRITO), 2021,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10.1109/ICRITO51393.2021.9596199.</a:t>
            </a:r>
          </a:p>
          <a:p>
            <a:pPr algn="just">
              <a:lnSpc>
                <a:spcPct val="150000"/>
              </a:lnSpc>
            </a:pPr>
            <a:r>
              <a:rPr lang="en-IN" sz="2000" b="1" i="1" dirty="0">
                <a:latin typeface="Times New Roman" panose="02020603050405020304" pitchFamily="18" charset="0"/>
                <a:cs typeface="Times New Roman" panose="02020603050405020304" pitchFamily="18" charset="0"/>
              </a:rPr>
              <a:t>[29] </a:t>
            </a:r>
            <a:r>
              <a:rPr lang="en-IN" sz="2000" i="1" dirty="0">
                <a:latin typeface="Times New Roman" panose="02020603050405020304" pitchFamily="18" charset="0"/>
                <a:cs typeface="Times New Roman" panose="02020603050405020304" pitchFamily="18" charset="0"/>
              </a:rPr>
              <a:t>M. </a:t>
            </a:r>
            <a:r>
              <a:rPr lang="en-IN" sz="2000" i="1" dirty="0" err="1">
                <a:latin typeface="Times New Roman" panose="02020603050405020304" pitchFamily="18" charset="0"/>
                <a:cs typeface="Times New Roman" panose="02020603050405020304" pitchFamily="18" charset="0"/>
              </a:rPr>
              <a:t>Kaloev</a:t>
            </a:r>
            <a:r>
              <a:rPr lang="en-IN" sz="2000" i="1" dirty="0">
                <a:latin typeface="Times New Roman" panose="02020603050405020304" pitchFamily="18" charset="0"/>
                <a:cs typeface="Times New Roman" panose="02020603050405020304" pitchFamily="18" charset="0"/>
              </a:rPr>
              <a:t> and G. Krastev, “Experiments Focused on Exploration in Deep Reinforcement Learning,” 2021 5th International Symposium on Multidisciplinary Studies and Innovative Technologies (ISMSIT), 2021, </a:t>
            </a:r>
            <a:r>
              <a:rPr lang="en-IN" sz="2000" i="1" dirty="0" err="1">
                <a:latin typeface="Times New Roman" panose="02020603050405020304" pitchFamily="18" charset="0"/>
                <a:cs typeface="Times New Roman" panose="02020603050405020304" pitchFamily="18" charset="0"/>
              </a:rPr>
              <a:t>doi</a:t>
            </a:r>
            <a:r>
              <a:rPr lang="en-IN" sz="2000" i="1" dirty="0">
                <a:latin typeface="Times New Roman" panose="02020603050405020304" pitchFamily="18" charset="0"/>
                <a:cs typeface="Times New Roman" panose="02020603050405020304" pitchFamily="18" charset="0"/>
              </a:rPr>
              <a:t>: 10.1109/ISMSIT52890.2021.9604690.</a:t>
            </a:r>
          </a:p>
          <a:p>
            <a:pPr algn="just">
              <a:lnSpc>
                <a:spcPct val="150000"/>
              </a:lnSpc>
            </a:pPr>
            <a:r>
              <a:rPr lang="en-IN" sz="2000" b="1" i="1" dirty="0">
                <a:latin typeface="Times New Roman" panose="02020603050405020304" pitchFamily="18" charset="0"/>
                <a:cs typeface="Times New Roman" panose="02020603050405020304" pitchFamily="18" charset="0"/>
              </a:rPr>
              <a:t>[30]</a:t>
            </a:r>
            <a:r>
              <a:rPr lang="en-IN" sz="2000" i="1" dirty="0">
                <a:latin typeface="Times New Roman" panose="02020603050405020304" pitchFamily="18" charset="0"/>
                <a:cs typeface="Times New Roman" panose="02020603050405020304" pitchFamily="18" charset="0"/>
              </a:rPr>
              <a:t> P. </a:t>
            </a:r>
            <a:r>
              <a:rPr lang="en-IN" sz="2000" i="1" dirty="0" err="1">
                <a:latin typeface="Times New Roman" panose="02020603050405020304" pitchFamily="18" charset="0"/>
                <a:cs typeface="Times New Roman" panose="02020603050405020304" pitchFamily="18" charset="0"/>
              </a:rPr>
              <a:t>Shengguang</a:t>
            </a:r>
            <a:r>
              <a:rPr lang="en-IN" sz="2000" i="1" dirty="0">
                <a:latin typeface="Times New Roman" panose="02020603050405020304" pitchFamily="18" charset="0"/>
                <a:cs typeface="Times New Roman" panose="02020603050405020304" pitchFamily="18" charset="0"/>
              </a:rPr>
              <a:t>, “Overview of Meta-Reinforcement Learning Research,” 2020 2nd International Conference on Information Technology and Computer Application (ITCA), 2020.</a:t>
            </a:r>
          </a:p>
        </p:txBody>
      </p:sp>
    </p:spTree>
    <p:extLst>
      <p:ext uri="{BB962C8B-B14F-4D97-AF65-F5344CB8AC3E}">
        <p14:creationId xmlns:p14="http://schemas.microsoft.com/office/powerpoint/2010/main" val="490769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08FB8-EE46-0558-F9B7-55E6B8A3FA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F1E438A-87ED-D214-E4AB-E20648801F84}"/>
              </a:ext>
            </a:extLst>
          </p:cNvPr>
          <p:cNvSpPr/>
          <p:nvPr/>
        </p:nvSpPr>
        <p:spPr>
          <a:xfrm>
            <a:off x="19050" y="1"/>
            <a:ext cx="18288000" cy="10287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a:p>
        </p:txBody>
      </p:sp>
      <p:sp>
        <p:nvSpPr>
          <p:cNvPr id="3" name="TextBox 4">
            <a:extLst>
              <a:ext uri="{FF2B5EF4-FFF2-40B4-BE49-F238E27FC236}">
                <a16:creationId xmlns:a16="http://schemas.microsoft.com/office/drawing/2014/main" id="{85710293-457D-FEB2-3847-F95E9C33F03A}"/>
              </a:ext>
            </a:extLst>
          </p:cNvPr>
          <p:cNvSpPr txBox="1"/>
          <p:nvPr/>
        </p:nvSpPr>
        <p:spPr>
          <a:xfrm>
            <a:off x="3733800" y="4895338"/>
            <a:ext cx="10744200" cy="1162562"/>
          </a:xfrm>
          <a:prstGeom prst="rect">
            <a:avLst/>
          </a:prstGeom>
        </p:spPr>
        <p:txBody>
          <a:bodyPr wrap="square" lIns="0" tIns="0" rIns="0" bIns="0" rtlCol="0" anchor="t">
            <a:spAutoFit/>
          </a:bodyPr>
          <a:lstStyle/>
          <a:p>
            <a:pPr algn="l">
              <a:lnSpc>
                <a:spcPts val="6949"/>
              </a:lnSpc>
            </a:pPr>
            <a:r>
              <a:rPr lang="en-US" sz="16600" b="1" dirty="0">
                <a:solidFill>
                  <a:srgbClr val="000000"/>
                </a:solidFill>
                <a:latin typeface="Times New Roman Bold"/>
                <a:ea typeface="Times New Roman Bold"/>
                <a:cs typeface="Times New Roman Bold"/>
                <a:sym typeface="Times New Roman Bold"/>
              </a:rPr>
              <a:t>Thank You!</a:t>
            </a:r>
          </a:p>
        </p:txBody>
      </p:sp>
    </p:spTree>
    <p:extLst>
      <p:ext uri="{BB962C8B-B14F-4D97-AF65-F5344CB8AC3E}">
        <p14:creationId xmlns:p14="http://schemas.microsoft.com/office/powerpoint/2010/main" val="10330415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2909</TotalTime>
  <Words>4704</Words>
  <Application>Microsoft Office PowerPoint</Application>
  <PresentationFormat>Custom</PresentationFormat>
  <Paragraphs>381</Paragraphs>
  <Slides>24</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Calibri Light</vt:lpstr>
      <vt:lpstr>Times New Roman Bold</vt:lpstr>
      <vt:lpstr>Calibri</vt:lpstr>
      <vt:lpstr>Times New Roman</vt:lpstr>
      <vt:lpstr>Retrospect</vt:lpstr>
      <vt:lpstr>Office Theme</vt:lpstr>
      <vt:lpstr>PowerPoint Presentation</vt:lpstr>
      <vt:lpstr>PowerPoint Presentation</vt:lpstr>
      <vt:lpstr>PowerPoint Presentation</vt:lpstr>
      <vt:lpstr>PowerPoint Presentation</vt:lpstr>
      <vt:lpstr>Literature Survey</vt:lpstr>
      <vt:lpstr>Literature Survey</vt:lpstr>
      <vt:lpstr>Literature Survey</vt:lpstr>
      <vt:lpstr>Literature Survey</vt:lpstr>
      <vt:lpstr>Literature Survey</vt:lpstr>
      <vt:lpstr>Literature Survey</vt:lpstr>
      <vt:lpstr>Literature Survey</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MINOR_PPT.pptx</dc:title>
  <dc:creator>LENOVO</dc:creator>
  <cp:lastModifiedBy>AYUSH WANJARI</cp:lastModifiedBy>
  <cp:revision>48</cp:revision>
  <dcterms:created xsi:type="dcterms:W3CDTF">2006-08-16T00:00:00Z</dcterms:created>
  <dcterms:modified xsi:type="dcterms:W3CDTF">2026-08-19T08:13:33Z</dcterms:modified>
  <dc:identifier>DAGLrm0_P8M</dc:identifier>
</cp:coreProperties>
</file>